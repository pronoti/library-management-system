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256" r:id="rId5"/>
    <p:sldId id="277" r:id="rId6"/>
    <p:sldId id="261" r:id="rId7"/>
    <p:sldId id="262" r:id="rId8"/>
    <p:sldId id="289" r:id="rId9"/>
    <p:sldId id="264" r:id="rId10"/>
    <p:sldId id="258" r:id="rId11"/>
    <p:sldId id="278" r:id="rId12"/>
    <p:sldId id="266" r:id="rId13"/>
    <p:sldId id="292" r:id="rId14"/>
    <p:sldId id="268" r:id="rId15"/>
    <p:sldId id="280" r:id="rId16"/>
    <p:sldId id="270" r:id="rId17"/>
    <p:sldId id="293" r:id="rId18"/>
    <p:sldId id="294" r:id="rId19"/>
    <p:sldId id="260" r:id="rId20"/>
    <p:sldId id="282" r:id="rId21"/>
    <p:sldId id="283" r:id="rId22"/>
    <p:sldId id="290" r:id="rId23"/>
    <p:sldId id="275" r:id="rId24"/>
    <p:sldId id="276" r:id="rId25"/>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2125" autoAdjust="0"/>
  </p:normalViewPr>
  <p:slideViewPr>
    <p:cSldViewPr snapToGrid="0">
      <p:cViewPr varScale="1">
        <p:scale>
          <a:sx n="130" d="100"/>
          <a:sy n="130" d="100"/>
        </p:scale>
        <p:origin x="1428" y="13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3882" y="14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7680"/>
        <c:crosses val="autoZero"/>
        <c:crossBetween val="between"/>
        <c:majorUnit val="1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053-449F-8EEE-DAFE02C9D55A}"/>
              </c:ext>
            </c:extLst>
          </c:dPt>
          <c:dPt>
            <c:idx val="1"/>
            <c:bubble3D val="0"/>
            <c:spPr>
              <a:solidFill>
                <a:schemeClr val="accent1"/>
              </a:solidFill>
              <a:ln w="19050">
                <a:noFill/>
              </a:ln>
              <a:effectLst/>
            </c:spPr>
            <c:extLst>
              <c:ext xmlns:c16="http://schemas.microsoft.com/office/drawing/2014/chart" uri="{C3380CC4-5D6E-409C-BE32-E72D297353CC}">
                <c16:uniqueId val="{00000003-D053-449F-8EEE-DAFE02C9D55A}"/>
              </c:ext>
            </c:extLst>
          </c:dPt>
          <c:dPt>
            <c:idx val="2"/>
            <c:bubble3D val="0"/>
            <c:spPr>
              <a:solidFill>
                <a:schemeClr val="accent1">
                  <a:lumMod val="75000"/>
                </a:schemeClr>
              </a:solidFill>
              <a:ln w="19050">
                <a:noFill/>
              </a:ln>
              <a:effectLst/>
            </c:spPr>
            <c:extLst>
              <c:ext xmlns:c16="http://schemas.microsoft.com/office/drawing/2014/chart" uri="{C3380CC4-5D6E-409C-BE32-E72D297353CC}">
                <c16:uniqueId val="{00000005-D053-449F-8EEE-DAFE02C9D55A}"/>
              </c:ext>
            </c:extLst>
          </c:dPt>
          <c:dPt>
            <c:idx val="3"/>
            <c:bubble3D val="0"/>
            <c:spPr>
              <a:solidFill>
                <a:schemeClr val="accent1"/>
              </a:solidFill>
              <a:ln w="19050">
                <a:noFill/>
              </a:ln>
              <a:effectLst/>
            </c:spPr>
            <c:extLst>
              <c:ext xmlns:c16="http://schemas.microsoft.com/office/drawing/2014/chart" uri="{C3380CC4-5D6E-409C-BE32-E72D297353CC}">
                <c16:uniqueId val="{00000007-D053-449F-8EEE-DAFE02C9D55A}"/>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053-449F-8EEE-DAFE02C9D55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68FD-4EB0-96B7-77E7434B1C75}"/>
              </c:ext>
            </c:extLst>
          </c:dPt>
          <c:dPt>
            <c:idx val="1"/>
            <c:bubble3D val="0"/>
            <c:spPr>
              <a:solidFill>
                <a:schemeClr val="accent1"/>
              </a:solidFill>
              <a:ln w="19050">
                <a:noFill/>
              </a:ln>
              <a:effectLst/>
            </c:spPr>
            <c:extLst>
              <c:ext xmlns:c16="http://schemas.microsoft.com/office/drawing/2014/chart" uri="{C3380CC4-5D6E-409C-BE32-E72D297353CC}">
                <c16:uniqueId val="{00000003-68FD-4EB0-96B7-77E7434B1C75}"/>
              </c:ext>
            </c:extLst>
          </c:dPt>
          <c:dPt>
            <c:idx val="2"/>
            <c:bubble3D val="0"/>
            <c:spPr>
              <a:solidFill>
                <a:schemeClr val="accent1"/>
              </a:solidFill>
              <a:ln w="19050">
                <a:noFill/>
              </a:ln>
              <a:effectLst/>
            </c:spPr>
            <c:extLst>
              <c:ext xmlns:c16="http://schemas.microsoft.com/office/drawing/2014/chart" uri="{C3380CC4-5D6E-409C-BE32-E72D297353CC}">
                <c16:uniqueId val="{00000005-68FD-4EB0-96B7-77E7434B1C75}"/>
              </c:ext>
            </c:extLst>
          </c:dPt>
          <c:dPt>
            <c:idx val="3"/>
            <c:bubble3D val="0"/>
            <c:spPr>
              <a:solidFill>
                <a:schemeClr val="accent1">
                  <a:lumMod val="75000"/>
                </a:schemeClr>
              </a:solidFill>
              <a:ln w="19050">
                <a:noFill/>
              </a:ln>
              <a:effectLst/>
            </c:spPr>
            <c:extLst>
              <c:ext xmlns:c16="http://schemas.microsoft.com/office/drawing/2014/chart" uri="{C3380CC4-5D6E-409C-BE32-E72D297353CC}">
                <c16:uniqueId val="{00000007-68FD-4EB0-96B7-77E7434B1C75}"/>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68FD-4EB0-96B7-77E7434B1C75}"/>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lumMod val="75000"/>
                </a:schemeClr>
              </a:solidFill>
              <a:ln w="19050">
                <a:noFill/>
              </a:ln>
              <a:effectLst/>
            </c:spPr>
            <c:extLst>
              <c:ext xmlns:c16="http://schemas.microsoft.com/office/drawing/2014/chart" uri="{C3380CC4-5D6E-409C-BE32-E72D297353CC}">
                <c16:uniqueId val="{00000001-F8DE-4407-9084-86239413ECEC}"/>
              </c:ext>
            </c:extLst>
          </c:dPt>
          <c:dPt>
            <c:idx val="1"/>
            <c:bubble3D val="0"/>
            <c:spPr>
              <a:solidFill>
                <a:schemeClr val="accent1"/>
              </a:solidFill>
              <a:ln w="19050">
                <a:noFill/>
              </a:ln>
              <a:effectLst/>
            </c:spPr>
            <c:extLst>
              <c:ext xmlns:c16="http://schemas.microsoft.com/office/drawing/2014/chart" uri="{C3380CC4-5D6E-409C-BE32-E72D297353CC}">
                <c16:uniqueId val="{00000003-F8DE-4407-9084-86239413ECEC}"/>
              </c:ext>
            </c:extLst>
          </c:dPt>
          <c:dPt>
            <c:idx val="2"/>
            <c:bubble3D val="0"/>
            <c:spPr>
              <a:solidFill>
                <a:schemeClr val="accent1"/>
              </a:solidFill>
              <a:ln w="19050">
                <a:noFill/>
              </a:ln>
              <a:effectLst/>
            </c:spPr>
            <c:extLst>
              <c:ext xmlns:c16="http://schemas.microsoft.com/office/drawing/2014/chart" uri="{C3380CC4-5D6E-409C-BE32-E72D297353CC}">
                <c16:uniqueId val="{00000005-F8DE-4407-9084-86239413ECEC}"/>
              </c:ext>
            </c:extLst>
          </c:dPt>
          <c:dPt>
            <c:idx val="3"/>
            <c:bubble3D val="0"/>
            <c:spPr>
              <a:solidFill>
                <a:schemeClr val="accent1"/>
              </a:solidFill>
              <a:ln w="19050">
                <a:noFill/>
              </a:ln>
              <a:effectLst/>
            </c:spPr>
            <c:extLst>
              <c:ext xmlns:c16="http://schemas.microsoft.com/office/drawing/2014/chart" uri="{C3380CC4-5D6E-409C-BE32-E72D297353CC}">
                <c16:uniqueId val="{00000007-F8DE-4407-9084-86239413ECEC}"/>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F8DE-4407-9084-86239413ECE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D2F-44F6-B0B4-AE7D2AD35A4D}"/>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7D2F-44F6-B0B4-AE7D2AD35A4D}"/>
              </c:ext>
            </c:extLst>
          </c:dPt>
          <c:dPt>
            <c:idx val="2"/>
            <c:bubble3D val="0"/>
            <c:spPr>
              <a:solidFill>
                <a:schemeClr val="accent1"/>
              </a:solidFill>
              <a:ln w="19050">
                <a:noFill/>
              </a:ln>
              <a:effectLst/>
            </c:spPr>
            <c:extLst>
              <c:ext xmlns:c16="http://schemas.microsoft.com/office/drawing/2014/chart" uri="{C3380CC4-5D6E-409C-BE32-E72D297353CC}">
                <c16:uniqueId val="{00000005-7D2F-44F6-B0B4-AE7D2AD35A4D}"/>
              </c:ext>
            </c:extLst>
          </c:dPt>
          <c:dPt>
            <c:idx val="3"/>
            <c:bubble3D val="0"/>
            <c:spPr>
              <a:solidFill>
                <a:schemeClr val="accent1"/>
              </a:solidFill>
              <a:ln w="19050">
                <a:noFill/>
              </a:ln>
              <a:effectLst/>
            </c:spPr>
            <c:extLst>
              <c:ext xmlns:c16="http://schemas.microsoft.com/office/drawing/2014/chart" uri="{C3380CC4-5D6E-409C-BE32-E72D297353CC}">
                <c16:uniqueId val="{00000007-7D2F-44F6-B0B4-AE7D2AD35A4D}"/>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7D2F-44F6-B0B4-AE7D2AD35A4D}"/>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15C51C6-8CD9-4F7F-B899-B259B522AF31}" type="datetime1">
              <a:rPr lang="en-GB" smtClean="0"/>
              <a:t>24/11/2025</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EBA25-0AFC-482A-A4F4-4C60B04CD784}" type="datetime1">
              <a:rPr lang="en-GB" smtClean="0"/>
              <a:pPr/>
              <a:t>24/11/2025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Today I'll present the Library Management System — a Java 25 compact-source console app that manages books and magazines. I'll show the project structure, core features, a quick demo, a common import issue and the fix, and next steps.</a:t>
            </a:r>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661522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4033215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3</a:t>
            </a:fld>
            <a:endParaRPr lang="en-GB"/>
          </a:p>
        </p:txBody>
      </p:sp>
    </p:spTree>
    <p:extLst>
      <p:ext uri="{BB962C8B-B14F-4D97-AF65-F5344CB8AC3E}">
        <p14:creationId xmlns:p14="http://schemas.microsoft.com/office/powerpoint/2010/main" val="964880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4</a:t>
            </a:fld>
            <a:endParaRPr lang="en-GB"/>
          </a:p>
        </p:txBody>
      </p:sp>
    </p:spTree>
    <p:extLst>
      <p:ext uri="{BB962C8B-B14F-4D97-AF65-F5344CB8AC3E}">
        <p14:creationId xmlns:p14="http://schemas.microsoft.com/office/powerpoint/2010/main" val="888541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5</a:t>
            </a:fld>
            <a:endParaRPr lang="en-GB"/>
          </a:p>
        </p:txBody>
      </p:sp>
    </p:spTree>
    <p:extLst>
      <p:ext uri="{BB962C8B-B14F-4D97-AF65-F5344CB8AC3E}">
        <p14:creationId xmlns:p14="http://schemas.microsoft.com/office/powerpoint/2010/main" val="3663153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3727293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269108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8</a:t>
            </a:fld>
            <a:endParaRPr lang="en-GB"/>
          </a:p>
        </p:txBody>
      </p:sp>
    </p:spTree>
    <p:extLst>
      <p:ext uri="{BB962C8B-B14F-4D97-AF65-F5344CB8AC3E}">
        <p14:creationId xmlns:p14="http://schemas.microsoft.com/office/powerpoint/2010/main" val="678272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9</a:t>
            </a:fld>
            <a:endParaRPr lang="en-GB"/>
          </a:p>
        </p:txBody>
      </p:sp>
    </p:spTree>
    <p:extLst>
      <p:ext uri="{BB962C8B-B14F-4D97-AF65-F5344CB8AC3E}">
        <p14:creationId xmlns:p14="http://schemas.microsoft.com/office/powerpoint/2010/main" val="1370816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10</a:t>
            </a:fld>
            <a:endParaRPr lang="en-GB"/>
          </a:p>
        </p:txBody>
      </p:sp>
    </p:spTree>
    <p:extLst>
      <p:ext uri="{BB962C8B-B14F-4D97-AF65-F5344CB8AC3E}">
        <p14:creationId xmlns:p14="http://schemas.microsoft.com/office/powerpoint/2010/main" val="1303983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3682465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2281185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13</a:t>
            </a:fld>
            <a:endParaRPr lang="en-GB"/>
          </a:p>
        </p:txBody>
      </p:sp>
    </p:spTree>
    <p:extLst>
      <p:ext uri="{BB962C8B-B14F-4D97-AF65-F5344CB8AC3E}">
        <p14:creationId xmlns:p14="http://schemas.microsoft.com/office/powerpoint/2010/main" val="1755141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14</a:t>
            </a:fld>
            <a:endParaRPr lang="en-GB"/>
          </a:p>
        </p:txBody>
      </p:sp>
    </p:spTree>
    <p:extLst>
      <p:ext uri="{BB962C8B-B14F-4D97-AF65-F5344CB8AC3E}">
        <p14:creationId xmlns:p14="http://schemas.microsoft.com/office/powerpoint/2010/main" val="2391626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15</a:t>
            </a:fld>
            <a:endParaRPr lang="en-GB"/>
          </a:p>
        </p:txBody>
      </p:sp>
    </p:spTree>
    <p:extLst>
      <p:ext uri="{BB962C8B-B14F-4D97-AF65-F5344CB8AC3E}">
        <p14:creationId xmlns:p14="http://schemas.microsoft.com/office/powerpoint/2010/main" val="1189229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16</a:t>
            </a:fld>
            <a:endParaRPr lang="en-GB"/>
          </a:p>
        </p:txBody>
      </p:sp>
    </p:spTree>
    <p:extLst>
      <p:ext uri="{BB962C8B-B14F-4D97-AF65-F5344CB8AC3E}">
        <p14:creationId xmlns:p14="http://schemas.microsoft.com/office/powerpoint/2010/main" val="2364348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17</a:t>
            </a:fld>
            <a:endParaRPr lang="en-GB"/>
          </a:p>
        </p:txBody>
      </p:sp>
    </p:spTree>
    <p:extLst>
      <p:ext uri="{BB962C8B-B14F-4D97-AF65-F5344CB8AC3E}">
        <p14:creationId xmlns:p14="http://schemas.microsoft.com/office/powerpoint/2010/main" val="403116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18</a:t>
            </a:fld>
            <a:endParaRPr lang="en-GB"/>
          </a:p>
        </p:txBody>
      </p:sp>
    </p:spTree>
    <p:extLst>
      <p:ext uri="{BB962C8B-B14F-4D97-AF65-F5344CB8AC3E}">
        <p14:creationId xmlns:p14="http://schemas.microsoft.com/office/powerpoint/2010/main" val="1022179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19</a:t>
            </a:fld>
            <a:endParaRPr lang="en-GB"/>
          </a:p>
        </p:txBody>
      </p:sp>
    </p:spTree>
    <p:extLst>
      <p:ext uri="{BB962C8B-B14F-4D97-AF65-F5344CB8AC3E}">
        <p14:creationId xmlns:p14="http://schemas.microsoft.com/office/powerpoint/2010/main" val="3282061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20</a:t>
            </a:fld>
            <a:endParaRPr lang="en-GB"/>
          </a:p>
        </p:txBody>
      </p:sp>
    </p:spTree>
    <p:extLst>
      <p:ext uri="{BB962C8B-B14F-4D97-AF65-F5344CB8AC3E}">
        <p14:creationId xmlns:p14="http://schemas.microsoft.com/office/powerpoint/2010/main" val="1236766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21</a:t>
            </a:fld>
            <a:endParaRPr lang="en-GB"/>
          </a:p>
        </p:txBody>
      </p:sp>
    </p:spTree>
    <p:extLst>
      <p:ext uri="{BB962C8B-B14F-4D97-AF65-F5344CB8AC3E}">
        <p14:creationId xmlns:p14="http://schemas.microsoft.com/office/powerpoint/2010/main" val="1703282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rtlCol="0">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rtlCol="0"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rtl="0"/>
            <a:r>
              <a:rPr lang="en-GB" noProof="0"/>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rtlCol="0"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rtl="0"/>
            <a:r>
              <a:rPr lang="en-GB" noProof="0"/>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rtlCol="0"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rtl="0"/>
            <a:r>
              <a:rPr lang="en-GB" noProof="0"/>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rtlCol="0"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rtl="0"/>
            <a:r>
              <a:rPr lang="en-GB" noProof="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rtlCol="0"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rtl="0"/>
            <a:r>
              <a:rPr lang="en-GB" noProof="0"/>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rtlCol="0"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rtl="0"/>
            <a:r>
              <a:rPr lang="en-GB" noProof="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rtlCol="0"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rtl="0"/>
            <a:r>
              <a:rPr lang="en-GB" noProof="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rtlCol="0"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rtl="0"/>
            <a:r>
              <a:rPr lang="en-GB" noProof="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rtlCol="0"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rtl="0"/>
            <a:r>
              <a:rPr lang="en-GB" noProof="0"/>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rtlCol="0"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rtl="0"/>
            <a:r>
              <a:rPr lang="en-GB" noProof="0"/>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n-GB" noProof="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6776"/>
            <a:ext cx="10515600" cy="3697645"/>
          </a:xfrm>
        </p:spPr>
        <p:txBody>
          <a:bodyPr rtlCol="0"/>
          <a:lstStyle>
            <a:lvl1pPr>
              <a:defRPr>
                <a:solidFill>
                  <a:schemeClr val="tx1">
                    <a:lumMod val="75000"/>
                    <a:lumOff val="25000"/>
                  </a:schemeClr>
                </a:solidFill>
              </a:defRPr>
            </a:lvl1pPr>
          </a:lstStyle>
          <a:p>
            <a:pPr rtl="0"/>
            <a:r>
              <a:rPr lang="en-US" noProof="0"/>
              <a:t>Click icon to add SmartArt graphic</a:t>
            </a:r>
            <a:endParaRPr lang="en-GB" noProof="0"/>
          </a:p>
        </p:txBody>
      </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n-US" noProof="0"/>
              <a:t>Click icon to add picture</a:t>
            </a:r>
            <a:endParaRPr lang="en-GB" noProof="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n-US" noProof="0"/>
              <a:t>Click icon to add picture</a:t>
            </a:r>
            <a:endParaRPr lang="en-GB" noProof="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en-US" noProof="0"/>
              <a:t>Click icon to add picture</a:t>
            </a:r>
            <a:endParaRPr lang="en-GB" noProof="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n-US" noProof="0"/>
              <a:t>Click icon to add picture</a:t>
            </a:r>
            <a:endParaRPr lang="en-GB" noProof="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n-US" noProof="0"/>
              <a:t>Click icon to add picture</a:t>
            </a:r>
            <a:endParaRPr lang="en-GB" noProof="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n-US" noProof="0"/>
              <a:t>Click icon to add picture</a:t>
            </a:r>
            <a:endParaRPr lang="en-GB" noProof="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n-US" noProof="0"/>
              <a:t>Click icon to add picture</a:t>
            </a:r>
            <a:endParaRPr lang="en-GB" noProof="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n-US" noProof="0"/>
              <a:t>Click icon to add picture</a:t>
            </a:r>
            <a:endParaRPr lang="en-GB" noProof="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n-US" noProof="0"/>
              <a:t>Click icon to add picture</a:t>
            </a:r>
            <a:endParaRPr lang="en-GB" noProof="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1.jpg"/><Relationship Id="rId7" Type="http://schemas.openxmlformats.org/officeDocument/2006/relationships/image" Target="../media/image35.jpg"/><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34.jpg"/><Relationship Id="rId5" Type="http://schemas.openxmlformats.org/officeDocument/2006/relationships/image" Target="../media/image33.jp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9.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3962400"/>
            <a:ext cx="4941771" cy="1594642"/>
          </a:xfrm>
        </p:spPr>
        <p:txBody>
          <a:bodyPr rtlCol="0"/>
          <a:lstStyle/>
          <a:p>
            <a:pPr rtl="0"/>
            <a:r>
              <a:rPr lang="en-GB" dirty="0"/>
              <a:t>Library Management System</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lstStyle/>
          <a:p>
            <a:pPr rtl="0"/>
            <a:r>
              <a:rPr lang="en-GB" dirty="0"/>
              <a:t>Pronoti Saha</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rtlCol="0"/>
          <a:lstStyle/>
          <a:p>
            <a:pPr rtl="0"/>
            <a:r>
              <a:rPr lang="en-GB"/>
              <a:t>ABOUT US</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rtlCol="0">
            <a:normAutofit/>
          </a:bodyPr>
          <a:lstStyle/>
          <a:p>
            <a:pPr rtl="0"/>
            <a:r>
              <a:rPr lang="en-GB" dirty="0"/>
              <a:t>At Contoso, we empower organisations to foster collaborative thinking to further drive workplace innovation. By closing the loop and leveraging agile frameworks, we help business grow organically and foster a consumer-first mindset.</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n-GB"/>
              <a:t>20XX</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n-GB" smtClean="0"/>
              <a:pPr/>
              <a:t>2</a:t>
            </a:fld>
            <a:endParaRPr lang="en-GB"/>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509419"/>
            <a:ext cx="4082142" cy="585788"/>
          </a:xfrm>
        </p:spPr>
        <p:txBody>
          <a:bodyPr rtlCol="0"/>
          <a:lstStyle/>
          <a:p>
            <a:pPr rtl="0"/>
            <a:r>
              <a:rPr lang="en-GB"/>
              <a:t>PROBLEM</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pPr rtl="0"/>
            <a:r>
              <a:rPr lang="en-GB"/>
              <a:t>MARKET GAP</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rtlCol="0"/>
          <a:lstStyle/>
          <a:p>
            <a:pPr rtl="0"/>
            <a:r>
              <a:rPr lang="en-GB"/>
              <a:t>CUSTOMERS</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rtlCol="0"/>
          <a:lstStyle/>
          <a:p>
            <a:pPr rtl="0"/>
            <a:r>
              <a:rPr lang="en-GB"/>
              <a:t>FINANCIALS</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rtlCol="0"/>
          <a:lstStyle/>
          <a:p>
            <a:pPr rtl="0"/>
            <a:r>
              <a:rPr lang="en-GB"/>
              <a:t>COSTS</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rtlCol="0"/>
          <a:lstStyle/>
          <a:p>
            <a:pPr rtl="0"/>
            <a:r>
              <a:rPr lang="en-GB"/>
              <a:t>Few, if any, products on the market help customers like we do</a:t>
            </a:r>
          </a:p>
          <a:p>
            <a:pPr rtl="0"/>
            <a:endParaRPr lang="en-GB"/>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rtlCol="0"/>
          <a:lstStyle/>
          <a:p>
            <a:pPr rtl="0"/>
            <a:r>
              <a:rPr lang="en-GB"/>
              <a:t>66% of US consumers spend money on multiple products that only partially resolves their issue</a:t>
            </a:r>
          </a:p>
          <a:p>
            <a:pPr rtl="0"/>
            <a:endParaRPr lang="en-GB"/>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rtlCol="0"/>
          <a:lstStyle/>
          <a:p>
            <a:pPr rtl="0"/>
            <a:r>
              <a:rPr lang="en-GB"/>
              <a:t>Millennials account for about a quarter of the $48 billion spent on other products in 2018</a:t>
            </a:r>
          </a:p>
          <a:p>
            <a:pPr rtl="0"/>
            <a:endParaRPr lang="en-GB"/>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rtlCol="0"/>
          <a:lstStyle/>
          <a:p>
            <a:pPr rtl="0"/>
            <a:r>
              <a:rPr lang="en-GB"/>
              <a:t>Loss of productivity costing consumers thousands of dollars </a:t>
            </a:r>
          </a:p>
          <a:p>
            <a:pPr rtl="0"/>
            <a:endParaRPr lang="en-GB"/>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rtlCol="0"/>
          <a:lstStyle/>
          <a:p>
            <a:pPr rtl="0"/>
            <a:r>
              <a:rPr lang="en-GB"/>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rtlCol="0"/>
          <a:lstStyle/>
          <a:p>
            <a:pPr rtl="0"/>
            <a:fld id="{B5CEABB6-07DC-46E8-9B57-56EC44A396E5}" type="slidenum">
              <a:rPr lang="en-GB" smtClean="0"/>
              <a:pPr/>
              <a:t>3</a:t>
            </a:fld>
            <a:endParaRPr lang="en-GB"/>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rtlCol="0"/>
          <a:lstStyle/>
          <a:p>
            <a:pPr rtl="0"/>
            <a:r>
              <a:rPr lang="en-GB"/>
              <a:t>SOLUTION</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rmAutofit lnSpcReduction="10000"/>
          </a:bodyPr>
          <a:lstStyle/>
          <a:p>
            <a:pPr rtl="0"/>
            <a:r>
              <a:rPr lang="en-GB"/>
              <a:t>CLOSE THE GAP</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485664" y="3070348"/>
            <a:ext cx="4031030" cy="1057308"/>
          </a:xfrm>
        </p:spPr>
        <p:txBody>
          <a:bodyPr rtlCol="0"/>
          <a:lstStyle/>
          <a:p>
            <a:pPr rtl="0"/>
            <a:r>
              <a:rPr lang="en-GB"/>
              <a:t>Our product makes consumer lives easier, and no other product on the market offers the same features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65125"/>
          </a:xfrm>
        </p:spPr>
        <p:txBody>
          <a:bodyPr rtlCol="0">
            <a:normAutofit lnSpcReduction="10000"/>
          </a:bodyPr>
          <a:lstStyle/>
          <a:p>
            <a:pPr rtl="0"/>
            <a:r>
              <a:rPr lang="en-GB"/>
              <a:t>TARGET AUDIENCE</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673143" y="3070348"/>
            <a:ext cx="4031030" cy="1057308"/>
          </a:xfrm>
        </p:spPr>
        <p:txBody>
          <a:bodyPr rtlCol="0"/>
          <a:lstStyle/>
          <a:p>
            <a:pPr rtl="0"/>
            <a:r>
              <a:rPr lang="en-GB"/>
              <a:t>Our target audience is Gen Z (18-25 years old)</a:t>
            </a:r>
          </a:p>
          <a:p>
            <a:pPr rtl="0"/>
            <a:endParaRPr lang="en-GB"/>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5899" y="4319431"/>
            <a:ext cx="4031945" cy="365125"/>
          </a:xfrm>
        </p:spPr>
        <p:txBody>
          <a:bodyPr rtlCol="0">
            <a:normAutofit lnSpcReduction="10000"/>
          </a:bodyPr>
          <a:lstStyle/>
          <a:p>
            <a:pPr rtl="0"/>
            <a:r>
              <a:rPr lang="en-GB"/>
              <a:t>COST SAVINGS</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486412" y="4826656"/>
            <a:ext cx="4031030" cy="1057308"/>
          </a:xfrm>
        </p:spPr>
        <p:txBody>
          <a:bodyPr rtlCol="0"/>
          <a:lstStyle/>
          <a:p>
            <a:pPr rtl="0"/>
            <a:r>
              <a:rPr lang="en-GB"/>
              <a:t>Reduce expenses for replacement products </a:t>
            </a:r>
          </a:p>
          <a:p>
            <a:pPr rtl="0"/>
            <a:endParaRPr lang="en-GB"/>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672630" y="4319431"/>
            <a:ext cx="4031945" cy="365125"/>
          </a:xfrm>
        </p:spPr>
        <p:txBody>
          <a:bodyPr rtlCol="0">
            <a:normAutofit lnSpcReduction="10000"/>
          </a:bodyPr>
          <a:lstStyle/>
          <a:p>
            <a:pPr rtl="0"/>
            <a:r>
              <a:rPr lang="en-GB"/>
              <a:t>EASY TO USE</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673143" y="4826656"/>
            <a:ext cx="4031030" cy="1057308"/>
          </a:xfrm>
        </p:spPr>
        <p:txBody>
          <a:bodyPr rtlCol="0"/>
          <a:lstStyle/>
          <a:p>
            <a:pPr rtl="0"/>
            <a:r>
              <a:rPr lang="en-GB"/>
              <a:t>Simple design that gives customers the targeted information they need</a:t>
            </a: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n-GB"/>
              <a:t>20XX</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pPr rtl="0"/>
            <a:r>
              <a:rPr lang="en-GB"/>
              <a:t>Pitch Deck</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a:t>4</a:t>
            </a:fld>
            <a:endParaRPr lang="en-GB"/>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rtlCol="0"/>
          <a:lstStyle/>
          <a:p>
            <a:pPr rtl="0"/>
            <a:r>
              <a:rPr lang="en-GB"/>
              <a:t>PRODUCT OVERVIEW</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pPr rtl="0"/>
            <a:r>
              <a:rPr lang="en-GB"/>
              <a:t>UNIQUE</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921828" y="1860060"/>
            <a:ext cx="5431971" cy="557950"/>
          </a:xfrm>
        </p:spPr>
        <p:txBody>
          <a:bodyPr rtlCol="0">
            <a:normAutofit/>
          </a:bodyPr>
          <a:lstStyle/>
          <a:p>
            <a:pPr rtl="0"/>
            <a:r>
              <a:rPr lang="en-GB"/>
              <a:t>Only product specifically dedicated to this niche market</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rtlCol="0">
            <a:normAutofit lnSpcReduction="10000"/>
          </a:bodyPr>
          <a:lstStyle/>
          <a:p>
            <a:pPr rtl="0"/>
            <a:r>
              <a:rPr lang="en-GB"/>
              <a:t>FIRST TO MARKET</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921828" y="2959856"/>
            <a:ext cx="5431971" cy="557950"/>
          </a:xfrm>
        </p:spPr>
        <p:txBody>
          <a:bodyPr rtlCol="0"/>
          <a:lstStyle/>
          <a:p>
            <a:pPr rtl="0"/>
            <a:r>
              <a:rPr lang="en-GB"/>
              <a:t>First beautifully designed product that's both stylish and functional</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rtlCol="0">
            <a:normAutofit lnSpcReduction="10000"/>
          </a:bodyPr>
          <a:lstStyle/>
          <a:p>
            <a:pPr rtl="0"/>
            <a:r>
              <a:rPr lang="en-GB"/>
              <a:t>TESTED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921828" y="4059652"/>
            <a:ext cx="5431971" cy="557950"/>
          </a:xfrm>
        </p:spPr>
        <p:txBody>
          <a:bodyPr rtlCol="0"/>
          <a:lstStyle/>
          <a:p>
            <a:pPr rtl="0"/>
            <a:r>
              <a:rPr lang="en-GB"/>
              <a:t>Conducted testing with college students in the area</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7"/>
          </p:nvPr>
        </p:nvSpPr>
        <p:spPr>
          <a:xfrm>
            <a:off x="5920106" y="4830024"/>
            <a:ext cx="5433204" cy="365125"/>
          </a:xfrm>
        </p:spPr>
        <p:txBody>
          <a:bodyPr rtlCol="0">
            <a:normAutofit lnSpcReduction="10000"/>
          </a:bodyPr>
          <a:lstStyle/>
          <a:p>
            <a:pPr rtl="0"/>
            <a:r>
              <a:rPr lang="en-GB"/>
              <a:t>AUTHENTIC</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919680" y="5159449"/>
            <a:ext cx="5431971" cy="557950"/>
          </a:xfrm>
        </p:spPr>
        <p:txBody>
          <a:bodyPr rtlCol="0"/>
          <a:lstStyle/>
          <a:p>
            <a:pPr rtl="0"/>
            <a:r>
              <a:rPr lang="en-GB"/>
              <a:t>Designed with the help and input of experts in the field </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n-GB"/>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a:t>Pitch Deck</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a:t>5</a:t>
            </a:fld>
            <a:endParaRPr lang="en-GB"/>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rtlCol="0"/>
          <a:lstStyle/>
          <a:p>
            <a:pPr rtl="0"/>
            <a:r>
              <a:rPr lang="en-GB"/>
              <a:t>PRODUCT BENEFITS</a:t>
            </a:r>
            <a:endParaRPr lang="en-GB" dirty="0"/>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660774"/>
            <a:ext cx="5111750" cy="1525588"/>
          </a:xfrm>
        </p:spPr>
        <p:txBody>
          <a:bodyPr vert="horz" lIns="91440" tIns="45720" rIns="91440" bIns="45720" rtlCol="0" anchor="t">
            <a:normAutofit/>
          </a:bodyPr>
          <a:lstStyle/>
          <a:p>
            <a:pPr rtl="0"/>
            <a:r>
              <a:rPr lang="en-GB"/>
              <a:t>Cool and stylish product</a:t>
            </a:r>
          </a:p>
          <a:p>
            <a:pPr rtl="0"/>
            <a:r>
              <a:rPr lang="en-GB" noProof="1"/>
              <a:t>Areas for community connections </a:t>
            </a:r>
          </a:p>
          <a:p>
            <a:pPr rtl="0"/>
            <a:r>
              <a:rPr lang="en-GB" noProof="1"/>
              <a:t>Online store and market swap</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rtlCol="0"/>
          <a:lstStyle/>
          <a:p>
            <a:pPr rtl="0"/>
            <a:r>
              <a:rPr lang="en-GB"/>
              <a:t>Pitch Deck</a:t>
            </a:r>
            <a:endParaRPr lang="en-GB" dirty="0"/>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6</a:t>
            </a:fld>
            <a:endParaRPr lang="en-GB"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rtlCol="0"/>
          <a:lstStyle/>
          <a:p>
            <a:pPr rtl="0"/>
            <a:r>
              <a:rPr lang="en-GB"/>
              <a:t>COMPANY OVERVIEW</a:t>
            </a:r>
          </a:p>
        </p:txBody>
      </p:sp>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rtlCol="0"/>
          <a:lstStyle/>
          <a:p>
            <a:pPr rtl="0"/>
            <a:r>
              <a:rPr lang="en-GB"/>
              <a:t>BUSINESS MODEL</a:t>
            </a:r>
            <a:endParaRPr lang="en-GB" dirty="0"/>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pPr rtl="0"/>
            <a:r>
              <a:rPr lang="en-GB" noProof="1"/>
              <a:t>ABSTRACT</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rtlCol="0">
            <a:normAutofit/>
          </a:bodyPr>
          <a:lstStyle/>
          <a:p>
            <a:pPr rtl="0"/>
            <a:r>
              <a:rPr lang="en-GB"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pPr rtl="0"/>
            <a:r>
              <a:rPr lang="en-GB"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rtlCol="0">
            <a:normAutofit/>
          </a:bodyPr>
          <a:lstStyle/>
          <a:p>
            <a:pPr rtl="0"/>
            <a:r>
              <a:rPr lang="en-GB"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pPr rtl="0"/>
            <a:r>
              <a:rPr lang="en-GB"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rtlCol="0">
            <a:normAutofit/>
          </a:bodyPr>
          <a:lstStyle/>
          <a:p>
            <a:pPr rtl="0"/>
            <a:r>
              <a:rPr lang="en-GB"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n-GB"/>
              <a:t>20XX</a:t>
            </a:r>
            <a:endParaRPr lang="en-GB" dirty="0"/>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a:t>Pitch Deck</a:t>
            </a:r>
            <a:endParaRPr lang="en-GB" dirty="0"/>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a:t>8</a:t>
            </a:fld>
            <a:endParaRPr lang="en-GB" dirty="0"/>
          </a:p>
        </p:txBody>
      </p:sp>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rtlCol="0"/>
          <a:lstStyle/>
          <a:p>
            <a:pPr rtl="0"/>
            <a:r>
              <a:rPr lang="en-GB"/>
              <a:t>MARKET OVERVIEW</a:t>
            </a:r>
            <a:endParaRPr lang="en-GB" dirty="0"/>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rtlCol="0"/>
          <a:lstStyle/>
          <a:p>
            <a:pPr rtl="0"/>
            <a:r>
              <a:rPr lang="en-GB"/>
              <a:t>£3 Billion</a:t>
            </a:r>
            <a:endParaRPr lang="en-GB" dirty="0"/>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pPr rtl="0"/>
            <a:r>
              <a:rPr lang="en-GB" noProof="1"/>
              <a:t>Freedom to invent</a:t>
            </a:r>
            <a:endParaRPr lang="en-GB"/>
          </a:p>
          <a:p>
            <a:pPr rtl="0"/>
            <a:r>
              <a:rPr lang="en-GB" noProof="1"/>
              <a:t>Selectively inclusive market</a:t>
            </a:r>
          </a:p>
          <a:p>
            <a:pPr rtl="0"/>
            <a:r>
              <a:rPr lang="en-GB" noProof="1"/>
              <a:t>Serviceable available market</a:t>
            </a:r>
          </a:p>
          <a:p>
            <a:pPr rtl="0"/>
            <a:endParaRPr lang="en-GB"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rtlCol="0"/>
          <a:lstStyle/>
          <a:p>
            <a:pPr rtl="0"/>
            <a:r>
              <a:rPr lang="en-GB"/>
              <a:t>£1 Billion</a:t>
            </a:r>
            <a:endParaRPr lang="en-GB" dirty="0"/>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rtlCol="0"/>
          <a:lstStyle/>
          <a:p>
            <a:pPr rtl="0"/>
            <a:r>
              <a:rPr lang="en-GB"/>
              <a:t>Opportunity to build</a:t>
            </a:r>
          </a:p>
          <a:p>
            <a:pPr rtl="0"/>
            <a:r>
              <a:rPr lang="en-GB"/>
              <a:t>Fully inclusive market</a:t>
            </a:r>
          </a:p>
          <a:p>
            <a:pPr rtl="0"/>
            <a:r>
              <a:rPr lang="en-GB"/>
              <a:t>Total addressable market</a:t>
            </a:r>
            <a:endParaRPr lang="en-GB" dirty="0"/>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pPr rtl="0"/>
            <a:r>
              <a:rPr lang="en-GB"/>
              <a:t>£2 Billion</a:t>
            </a:r>
            <a:endParaRPr lang="en-GB" dirty="0"/>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rtlCol="0"/>
          <a:lstStyle/>
          <a:p>
            <a:pPr rtl="0"/>
            <a:r>
              <a:rPr lang="en-GB" noProof="1"/>
              <a:t>Few competitors</a:t>
            </a:r>
          </a:p>
          <a:p>
            <a:pPr rtl="0"/>
            <a:r>
              <a:rPr lang="en-GB" noProof="1"/>
              <a:t>Specifically targeted market</a:t>
            </a:r>
          </a:p>
          <a:p>
            <a:pPr rtl="0"/>
            <a:r>
              <a:rPr lang="en-GB" noProof="1"/>
              <a:t>Serviceable obtainable market</a:t>
            </a:r>
            <a:endParaRPr lang="en-GB"/>
          </a:p>
          <a:p>
            <a:pPr rtl="0"/>
            <a:endParaRPr lang="en-GB"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9</a:t>
            </a:fld>
            <a:endParaRPr lang="en-GB" dirty="0"/>
          </a:p>
        </p:txBody>
      </p:sp>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rtlCol="0"/>
          <a:lstStyle/>
          <a:p>
            <a:pPr rtl="0"/>
            <a:r>
              <a:rPr lang="en-GB"/>
              <a:t>Market comparison</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rtlCol="0"/>
          <a:lstStyle/>
          <a:p>
            <a:pPr rtl="0"/>
            <a:r>
              <a:rPr lang="en-GB"/>
              <a:t>£3B</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rtlCol="0"/>
          <a:lstStyle/>
          <a:p>
            <a:pPr rtl="0"/>
            <a:r>
              <a:rPr lang="en-GB"/>
              <a:t>£2B</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rtlCol="0"/>
          <a:lstStyle/>
          <a:p>
            <a:pPr rtl="0"/>
            <a:r>
              <a:rPr lang="en-GB"/>
              <a:t>£1B</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rtlCol="0"/>
          <a:lstStyle/>
          <a:p>
            <a:pPr rtl="0"/>
            <a:r>
              <a:rPr lang="en-GB"/>
              <a:t>Opportunity to build</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rtlCol="0"/>
          <a:lstStyle/>
          <a:p>
            <a:pPr rtl="0"/>
            <a:r>
              <a:rPr lang="en-GB"/>
              <a:t>Freedom to invent</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10" y="4824188"/>
            <a:ext cx="3124093" cy="462927"/>
          </a:xfrm>
        </p:spPr>
        <p:txBody>
          <a:bodyPr rtlCol="0"/>
          <a:lstStyle/>
          <a:p>
            <a:pPr rtl="0"/>
            <a:r>
              <a:rPr lang="en-GB"/>
              <a:t>Few competitors</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462927"/>
          </a:xfrm>
        </p:spPr>
        <p:txBody>
          <a:bodyPr rtlCol="0"/>
          <a:lstStyle/>
          <a:p>
            <a:pPr rtl="0"/>
            <a:r>
              <a:rPr lang="en-GB"/>
              <a:t>Addressable market</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462927"/>
          </a:xfrm>
        </p:spPr>
        <p:txBody>
          <a:bodyPr rtlCol="0"/>
          <a:lstStyle/>
          <a:p>
            <a:pPr rtl="0"/>
            <a:r>
              <a:rPr lang="en-GB"/>
              <a:t>Serviceable market</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124093" cy="462927"/>
          </a:xfrm>
        </p:spPr>
        <p:txBody>
          <a:bodyPr rtlCol="0"/>
          <a:lstStyle/>
          <a:p>
            <a:pPr rtl="0"/>
            <a:r>
              <a:rPr lang="en-GB"/>
              <a:t>Obtainable market</a:t>
            </a:r>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10</a:t>
            </a:fld>
            <a:endParaRPr lang="en-GB"/>
          </a:p>
        </p:txBody>
      </p:sp>
    </p:spTree>
    <p:extLst>
      <p:ext uri="{BB962C8B-B14F-4D97-AF65-F5344CB8AC3E}">
        <p14:creationId xmlns:p14="http://schemas.microsoft.com/office/powerpoint/2010/main" val="404854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rtlCol="0"/>
          <a:lstStyle/>
          <a:p>
            <a:pPr rtl="0"/>
            <a:r>
              <a:rPr lang="en-GB"/>
              <a:t>OUR COMPETITION</a:t>
            </a:r>
            <a:endParaRPr lang="en-GB" dirty="0"/>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
          </p:nvPr>
        </p:nvSpPr>
        <p:spPr>
          <a:xfrm>
            <a:off x="2933700" y="2776936"/>
            <a:ext cx="3924300" cy="823912"/>
          </a:xfrm>
        </p:spPr>
        <p:txBody>
          <a:bodyPr rtlCol="0"/>
          <a:lstStyle/>
          <a:p>
            <a:pPr rtl="0"/>
            <a:r>
              <a:rPr lang="en-GB"/>
              <a:t>CONTOSO</a:t>
            </a:r>
            <a:endParaRPr lang="en-GB" dirty="0"/>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3834606"/>
            <a:ext cx="3924300" cy="1997867"/>
          </a:xfrm>
        </p:spPr>
        <p:txBody>
          <a:bodyPr vert="horz" lIns="91440" tIns="45720" rIns="91440" bIns="45720" rtlCol="0" anchor="t">
            <a:normAutofit/>
          </a:bodyPr>
          <a:lstStyle/>
          <a:p>
            <a:pPr rtl="0"/>
            <a:r>
              <a:rPr lang="en-GB" noProof="1"/>
              <a:t>Our product is priced below that of other companies on the market</a:t>
            </a:r>
          </a:p>
          <a:p>
            <a:pPr rtl="0"/>
            <a:r>
              <a:rPr lang="en-GB" noProof="1"/>
              <a:t>Design is simple and easy to use, compared to the complex designs of the competitors</a:t>
            </a:r>
          </a:p>
          <a:p>
            <a:pPr rtl="0"/>
            <a:r>
              <a:rPr lang="en-GB"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410173" y="2776936"/>
            <a:ext cx="3943627" cy="823912"/>
          </a:xfrm>
        </p:spPr>
        <p:txBody>
          <a:bodyPr rtlCol="0"/>
          <a:lstStyle/>
          <a:p>
            <a:pPr rtl="0"/>
            <a:r>
              <a:rPr lang="en-GB"/>
              <a:t>COMPETITORS</a:t>
            </a:r>
            <a:endParaRPr lang="en-GB" dirty="0"/>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7410173" y="3834606"/>
            <a:ext cx="3943627" cy="1997867"/>
          </a:xfrm>
        </p:spPr>
        <p:txBody>
          <a:bodyPr rtlCol="0"/>
          <a:lstStyle/>
          <a:p>
            <a:pPr rtl="0"/>
            <a:r>
              <a:rPr lang="en-GB" noProof="1"/>
              <a:t>Company A</a:t>
            </a:r>
            <a:br>
              <a:rPr lang="en-GB" noProof="1"/>
            </a:br>
            <a:r>
              <a:rPr lang="en-GB" noProof="1"/>
              <a:t>Product is more expensive</a:t>
            </a:r>
          </a:p>
          <a:p>
            <a:pPr rtl="0"/>
            <a:r>
              <a:rPr lang="en-GB" noProof="1"/>
              <a:t>Companies B &amp; C </a:t>
            </a:r>
            <a:br>
              <a:rPr lang="en-GB" noProof="1"/>
            </a:br>
            <a:r>
              <a:rPr lang="en-GB" noProof="1"/>
              <a:t>Product is expensive and inconvenient to use</a:t>
            </a:r>
          </a:p>
          <a:p>
            <a:pPr rtl="0"/>
            <a:r>
              <a:rPr lang="en-GB" noProof="1"/>
              <a:t>Companies D &amp; E</a:t>
            </a:r>
            <a:br>
              <a:rPr lang="en-GB" noProof="1"/>
            </a:br>
            <a:r>
              <a:rPr lang="en-GB" noProof="1"/>
              <a:t>Product is affordable, but inconvenient to use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11</a:t>
            </a:fld>
            <a:endParaRPr lang="en-GB" dirty="0"/>
          </a:p>
        </p:txBody>
      </p:sp>
    </p:spTree>
    <p:extLst>
      <p:ext uri="{BB962C8B-B14F-4D97-AF65-F5344CB8AC3E}">
        <p14:creationId xmlns:p14="http://schemas.microsoft.com/office/powerpoint/2010/main" val="4151694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838200" y="365125"/>
            <a:ext cx="10515600" cy="1325563"/>
          </a:xfrm>
        </p:spPr>
        <p:txBody>
          <a:bodyPr rtlCol="0"/>
          <a:lstStyle/>
          <a:p>
            <a:pPr rtl="0"/>
            <a:r>
              <a:rPr lang="en-GB"/>
              <a:t>Our competition  </a:t>
            </a:r>
          </a:p>
        </p:txBody>
      </p:sp>
      <p:sp>
        <p:nvSpPr>
          <p:cNvPr id="5" name="Text Placeholder 4">
            <a:extLst>
              <a:ext uri="{FF2B5EF4-FFF2-40B4-BE49-F238E27FC236}">
                <a16:creationId xmlns:a16="http://schemas.microsoft.com/office/drawing/2014/main" id="{AB97FAAF-FD5C-4EDE-A2D8-148266453488}"/>
              </a:ext>
            </a:extLst>
          </p:cNvPr>
          <p:cNvSpPr>
            <a:spLocks noGrp="1"/>
          </p:cNvSpPr>
          <p:nvPr>
            <p:ph type="body" sz="quarter" idx="15"/>
          </p:nvPr>
        </p:nvSpPr>
        <p:spPr>
          <a:xfrm>
            <a:off x="5242517" y="1599947"/>
            <a:ext cx="1706965" cy="492025"/>
          </a:xfrm>
        </p:spPr>
        <p:txBody>
          <a:bodyPr rtlCol="0">
            <a:normAutofit/>
          </a:bodyPr>
          <a:lstStyle/>
          <a:p>
            <a:pPr rtl="0"/>
            <a:r>
              <a:rPr lang="en-GB"/>
              <a:t>Convenient</a:t>
            </a:r>
          </a:p>
        </p:txBody>
      </p:sp>
      <p:sp>
        <p:nvSpPr>
          <p:cNvPr id="8" name="Text Placeholder 7">
            <a:extLst>
              <a:ext uri="{FF2B5EF4-FFF2-40B4-BE49-F238E27FC236}">
                <a16:creationId xmlns:a16="http://schemas.microsoft.com/office/drawing/2014/main" id="{B2F06784-6A30-4941-B70A-A58B611950D4}"/>
              </a:ext>
            </a:extLst>
          </p:cNvPr>
          <p:cNvSpPr>
            <a:spLocks noGrp="1"/>
          </p:cNvSpPr>
          <p:nvPr>
            <p:ph type="body" sz="quarter" idx="20"/>
          </p:nvPr>
        </p:nvSpPr>
        <p:spPr>
          <a:xfrm>
            <a:off x="3738732" y="2378452"/>
            <a:ext cx="1183179" cy="492025"/>
          </a:xfrm>
        </p:spPr>
        <p:txBody>
          <a:bodyPr rtlCol="0">
            <a:normAutofit/>
          </a:bodyPr>
          <a:lstStyle/>
          <a:p>
            <a:pPr rtl="0"/>
            <a:r>
              <a:rPr lang="en-GB"/>
              <a:t>Competitor A</a:t>
            </a:r>
          </a:p>
        </p:txBody>
      </p:sp>
      <p:sp>
        <p:nvSpPr>
          <p:cNvPr id="29" name="Text Placeholder 28">
            <a:extLst>
              <a:ext uri="{FF2B5EF4-FFF2-40B4-BE49-F238E27FC236}">
                <a16:creationId xmlns:a16="http://schemas.microsoft.com/office/drawing/2014/main" id="{BF7EE2E1-DA9E-4645-BC0D-305C1F12118B}"/>
              </a:ext>
            </a:extLst>
          </p:cNvPr>
          <p:cNvSpPr>
            <a:spLocks noGrp="1"/>
          </p:cNvSpPr>
          <p:nvPr>
            <p:ph type="body" sz="quarter" idx="26"/>
          </p:nvPr>
        </p:nvSpPr>
        <p:spPr>
          <a:xfrm>
            <a:off x="7522269" y="2169263"/>
            <a:ext cx="1706965" cy="1048575"/>
          </a:xfrm>
        </p:spPr>
        <p:txBody>
          <a:bodyPr rtlCol="0"/>
          <a:lstStyle/>
          <a:p>
            <a:pPr rtl="0"/>
            <a:r>
              <a:rPr lang="en-GB"/>
              <a:t>Contoso</a:t>
            </a:r>
          </a:p>
        </p:txBody>
      </p:sp>
      <p:sp>
        <p:nvSpPr>
          <p:cNvPr id="28" name="Text Placeholder 27">
            <a:extLst>
              <a:ext uri="{FF2B5EF4-FFF2-40B4-BE49-F238E27FC236}">
                <a16:creationId xmlns:a16="http://schemas.microsoft.com/office/drawing/2014/main" id="{E8BD1918-91E9-45FF-B758-93DAFA9EAFE9}"/>
              </a:ext>
            </a:extLst>
          </p:cNvPr>
          <p:cNvSpPr>
            <a:spLocks noGrp="1"/>
          </p:cNvSpPr>
          <p:nvPr>
            <p:ph type="body" sz="quarter" idx="25"/>
          </p:nvPr>
        </p:nvSpPr>
        <p:spPr>
          <a:xfrm>
            <a:off x="921894" y="3528829"/>
            <a:ext cx="1393863" cy="492025"/>
          </a:xfrm>
        </p:spPr>
        <p:txBody>
          <a:bodyPr rtlCol="0"/>
          <a:lstStyle/>
          <a:p>
            <a:pPr rtl="0"/>
            <a:r>
              <a:rPr lang="en-GB"/>
              <a:t>Affordable</a:t>
            </a:r>
          </a:p>
        </p:txBody>
      </p:sp>
      <p:sp>
        <p:nvSpPr>
          <p:cNvPr id="7" name="Text Placeholder 6">
            <a:extLst>
              <a:ext uri="{FF2B5EF4-FFF2-40B4-BE49-F238E27FC236}">
                <a16:creationId xmlns:a16="http://schemas.microsoft.com/office/drawing/2014/main" id="{E9C0C8B1-2DBC-40B1-BBA7-7B3D396478A1}"/>
              </a:ext>
            </a:extLst>
          </p:cNvPr>
          <p:cNvSpPr>
            <a:spLocks noGrp="1"/>
          </p:cNvSpPr>
          <p:nvPr>
            <p:ph type="body" sz="quarter" idx="19"/>
          </p:nvPr>
        </p:nvSpPr>
        <p:spPr>
          <a:xfrm>
            <a:off x="9940449" y="3528829"/>
            <a:ext cx="1380681" cy="492025"/>
          </a:xfrm>
        </p:spPr>
        <p:txBody>
          <a:bodyPr rtlCol="0">
            <a:normAutofit/>
          </a:bodyPr>
          <a:lstStyle/>
          <a:p>
            <a:pPr rtl="0"/>
            <a:r>
              <a:rPr lang="en-GB"/>
              <a:t>Expensive</a:t>
            </a:r>
          </a:p>
        </p:txBody>
      </p:sp>
      <p:sp>
        <p:nvSpPr>
          <p:cNvPr id="25" name="Text Placeholder 24">
            <a:extLst>
              <a:ext uri="{FF2B5EF4-FFF2-40B4-BE49-F238E27FC236}">
                <a16:creationId xmlns:a16="http://schemas.microsoft.com/office/drawing/2014/main" id="{225FED20-8F0E-4B86-88AD-F902806B2CA0}"/>
              </a:ext>
            </a:extLst>
          </p:cNvPr>
          <p:cNvSpPr>
            <a:spLocks noGrp="1"/>
          </p:cNvSpPr>
          <p:nvPr>
            <p:ph type="body" sz="quarter" idx="22"/>
          </p:nvPr>
        </p:nvSpPr>
        <p:spPr>
          <a:xfrm>
            <a:off x="2637747" y="4634331"/>
            <a:ext cx="1183179" cy="492025"/>
          </a:xfrm>
        </p:spPr>
        <p:txBody>
          <a:bodyPr rtlCol="0"/>
          <a:lstStyle/>
          <a:p>
            <a:pPr rtl="0"/>
            <a:r>
              <a:rPr lang="en-GB"/>
              <a:t>Competitor B</a:t>
            </a:r>
          </a:p>
        </p:txBody>
      </p:sp>
      <p:sp>
        <p:nvSpPr>
          <p:cNvPr id="24" name="Text Placeholder 23">
            <a:extLst>
              <a:ext uri="{FF2B5EF4-FFF2-40B4-BE49-F238E27FC236}">
                <a16:creationId xmlns:a16="http://schemas.microsoft.com/office/drawing/2014/main" id="{568D7422-F48C-4829-8937-7DA701F3303B}"/>
              </a:ext>
            </a:extLst>
          </p:cNvPr>
          <p:cNvSpPr>
            <a:spLocks noGrp="1"/>
          </p:cNvSpPr>
          <p:nvPr>
            <p:ph type="body" sz="quarter" idx="21"/>
          </p:nvPr>
        </p:nvSpPr>
        <p:spPr>
          <a:xfrm>
            <a:off x="4175224" y="4459860"/>
            <a:ext cx="1183179" cy="492025"/>
          </a:xfrm>
        </p:spPr>
        <p:txBody>
          <a:bodyPr rtlCol="0"/>
          <a:lstStyle/>
          <a:p>
            <a:pPr rtl="0"/>
            <a:r>
              <a:rPr lang="en-GB"/>
              <a:t>Competitor C</a:t>
            </a:r>
          </a:p>
        </p:txBody>
      </p:sp>
      <p:sp>
        <p:nvSpPr>
          <p:cNvPr id="26" name="Text Placeholder 25">
            <a:extLst>
              <a:ext uri="{FF2B5EF4-FFF2-40B4-BE49-F238E27FC236}">
                <a16:creationId xmlns:a16="http://schemas.microsoft.com/office/drawing/2014/main" id="{2329531A-E68A-4913-9B66-062FBAC6D24D}"/>
              </a:ext>
            </a:extLst>
          </p:cNvPr>
          <p:cNvSpPr>
            <a:spLocks noGrp="1"/>
          </p:cNvSpPr>
          <p:nvPr>
            <p:ph type="body" sz="quarter" idx="23"/>
          </p:nvPr>
        </p:nvSpPr>
        <p:spPr>
          <a:xfrm>
            <a:off x="6552714" y="4321788"/>
            <a:ext cx="1183179" cy="492025"/>
          </a:xfrm>
        </p:spPr>
        <p:txBody>
          <a:bodyPr rtlCol="0"/>
          <a:lstStyle/>
          <a:p>
            <a:pPr rtl="0"/>
            <a:r>
              <a:rPr lang="en-GB"/>
              <a:t>Competitor D</a:t>
            </a:r>
          </a:p>
        </p:txBody>
      </p:sp>
      <p:sp>
        <p:nvSpPr>
          <p:cNvPr id="6" name="Text Placeholder 5">
            <a:extLst>
              <a:ext uri="{FF2B5EF4-FFF2-40B4-BE49-F238E27FC236}">
                <a16:creationId xmlns:a16="http://schemas.microsoft.com/office/drawing/2014/main" id="{7F0BD43D-EBFD-48E7-A1D3-EB9228D4C58B}"/>
              </a:ext>
            </a:extLst>
          </p:cNvPr>
          <p:cNvSpPr>
            <a:spLocks noGrp="1"/>
          </p:cNvSpPr>
          <p:nvPr>
            <p:ph type="body" sz="quarter" idx="17"/>
          </p:nvPr>
        </p:nvSpPr>
        <p:spPr>
          <a:xfrm>
            <a:off x="5242517" y="5468790"/>
            <a:ext cx="1706965" cy="492025"/>
          </a:xfrm>
        </p:spPr>
        <p:txBody>
          <a:bodyPr rtlCol="0">
            <a:normAutofit/>
          </a:bodyPr>
          <a:lstStyle/>
          <a:p>
            <a:pPr rtl="0"/>
            <a:r>
              <a:rPr lang="en-GB"/>
              <a:t>Inconvenient</a:t>
            </a:r>
          </a:p>
        </p:txBody>
      </p:sp>
      <p:sp>
        <p:nvSpPr>
          <p:cNvPr id="27" name="Text Placeholder 26">
            <a:extLst>
              <a:ext uri="{FF2B5EF4-FFF2-40B4-BE49-F238E27FC236}">
                <a16:creationId xmlns:a16="http://schemas.microsoft.com/office/drawing/2014/main" id="{69ADCED5-CED8-4991-9B1E-DB7381BE7431}"/>
              </a:ext>
            </a:extLst>
          </p:cNvPr>
          <p:cNvSpPr>
            <a:spLocks noGrp="1"/>
          </p:cNvSpPr>
          <p:nvPr>
            <p:ph type="body" sz="quarter" idx="24"/>
          </p:nvPr>
        </p:nvSpPr>
        <p:spPr>
          <a:xfrm>
            <a:off x="7801857" y="5195673"/>
            <a:ext cx="1183179" cy="492025"/>
          </a:xfrm>
        </p:spPr>
        <p:txBody>
          <a:bodyPr rtlCol="0"/>
          <a:lstStyle/>
          <a:p>
            <a:pPr rtl="0"/>
            <a:r>
              <a:rPr lang="en-GB"/>
              <a:t>Competitor E</a:t>
            </a:r>
          </a:p>
        </p:txBody>
      </p:sp>
      <p:sp>
        <p:nvSpPr>
          <p:cNvPr id="42" name="Date Placeholder 41">
            <a:extLst>
              <a:ext uri="{FF2B5EF4-FFF2-40B4-BE49-F238E27FC236}">
                <a16:creationId xmlns:a16="http://schemas.microsoft.com/office/drawing/2014/main" id="{8ADD2DBD-D314-47B1-BD25-DAF6D4437F74}"/>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GB" smtClean="0"/>
              <a:pPr/>
              <a:t>12</a:t>
            </a:fld>
            <a:endParaRPr lang="en-GB"/>
          </a:p>
        </p:txBody>
      </p:sp>
      <p:sp>
        <p:nvSpPr>
          <p:cNvPr id="31" name="Oval 30">
            <a:extLst>
              <a:ext uri="{FF2B5EF4-FFF2-40B4-BE49-F238E27FC236}">
                <a16:creationId xmlns:a16="http://schemas.microsoft.com/office/drawing/2014/main" id="{F116CCE2-DE5B-4D04-8780-DE09E03B8A28}"/>
              </a:ext>
              <a:ext uri="{C183D7F6-B498-43B3-948B-1728B52AA6E4}">
                <adec:decorative xmlns:adec="http://schemas.microsoft.com/office/drawing/2017/decorative" val="1"/>
              </a:ext>
            </a:extLst>
          </p:cNvPr>
          <p:cNvSpPr/>
          <p:nvPr/>
        </p:nvSpPr>
        <p:spPr>
          <a:xfrm>
            <a:off x="4291806" y="2334532"/>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3" name="Oval 32">
            <a:extLst>
              <a:ext uri="{FF2B5EF4-FFF2-40B4-BE49-F238E27FC236}">
                <a16:creationId xmlns:a16="http://schemas.microsoft.com/office/drawing/2014/main" id="{1930BF4B-0565-4413-BDB0-116E9B84F127}"/>
              </a:ext>
              <a:ext uri="{C183D7F6-B498-43B3-948B-1728B52AA6E4}">
                <adec:decorative xmlns:adec="http://schemas.microsoft.com/office/drawing/2017/decorative" val="1"/>
              </a:ext>
            </a:extLst>
          </p:cNvPr>
          <p:cNvSpPr/>
          <p:nvPr/>
        </p:nvSpPr>
        <p:spPr>
          <a:xfrm>
            <a:off x="4728369" y="44211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5" name="Oval 34">
            <a:extLst>
              <a:ext uri="{FF2B5EF4-FFF2-40B4-BE49-F238E27FC236}">
                <a16:creationId xmlns:a16="http://schemas.microsoft.com/office/drawing/2014/main" id="{AEC73B38-496F-4951-89EB-38E1A77E186B}"/>
              </a:ext>
              <a:ext uri="{C183D7F6-B498-43B3-948B-1728B52AA6E4}">
                <adec:decorative xmlns:adec="http://schemas.microsoft.com/office/drawing/2017/decorative" val="1"/>
              </a:ext>
            </a:extLst>
          </p:cNvPr>
          <p:cNvSpPr/>
          <p:nvPr/>
        </p:nvSpPr>
        <p:spPr>
          <a:xfrm>
            <a:off x="3164455" y="4595813"/>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7" name="Oval 36">
            <a:extLst>
              <a:ext uri="{FF2B5EF4-FFF2-40B4-BE49-F238E27FC236}">
                <a16:creationId xmlns:a16="http://schemas.microsoft.com/office/drawing/2014/main" id="{8658B547-4844-4FC2-9B4E-C8A8DF4D66D8}"/>
              </a:ext>
              <a:ext uri="{C183D7F6-B498-43B3-948B-1728B52AA6E4}">
                <adec:decorative xmlns:adec="http://schemas.microsoft.com/office/drawing/2017/decorative" val="1"/>
              </a:ext>
            </a:extLst>
          </p:cNvPr>
          <p:cNvSpPr/>
          <p:nvPr/>
        </p:nvSpPr>
        <p:spPr>
          <a:xfrm>
            <a:off x="7106444" y="4288517"/>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9" name="Oval 38">
            <a:extLst>
              <a:ext uri="{FF2B5EF4-FFF2-40B4-BE49-F238E27FC236}">
                <a16:creationId xmlns:a16="http://schemas.microsoft.com/office/drawing/2014/main" id="{B7890BF0-461E-41CE-AFC1-AD52C6B9549E}"/>
              </a:ext>
              <a:ext uri="{C183D7F6-B498-43B3-948B-1728B52AA6E4}">
                <adec:decorative xmlns:adec="http://schemas.microsoft.com/office/drawing/2017/decorative" val="1"/>
              </a:ext>
            </a:extLst>
          </p:cNvPr>
          <p:cNvSpPr/>
          <p:nvPr/>
        </p:nvSpPr>
        <p:spPr>
          <a:xfrm>
            <a:off x="8355806" y="51577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63" name="Graphic 61">
            <a:extLst>
              <a:ext uri="{FF2B5EF4-FFF2-40B4-BE49-F238E27FC236}">
                <a16:creationId xmlns:a16="http://schemas.microsoft.com/office/drawing/2014/main" id="{9201E1F5-4143-449F-8629-751D360010A3}"/>
              </a:ext>
              <a:ext uri="{C183D7F6-B498-43B3-948B-1728B52AA6E4}">
                <adec:decorative xmlns:adec="http://schemas.microsoft.com/office/drawing/2017/decorative" val="1"/>
              </a:ext>
            </a:extLst>
          </p:cNvPr>
          <p:cNvSpPr/>
          <p:nvPr/>
        </p:nvSpPr>
        <p:spPr>
          <a:xfrm>
            <a:off x="7597401" y="2072999"/>
            <a:ext cx="1519834" cy="1268594"/>
          </a:xfrm>
          <a:custGeom>
            <a:avLst/>
            <a:gdLst>
              <a:gd name="connsiteX0" fmla="*/ 625766 w 1590050"/>
              <a:gd name="connsiteY0" fmla="*/ 178826 h 1315433"/>
              <a:gd name="connsiteX1" fmla="*/ 284934 w 1590050"/>
              <a:gd name="connsiteY1" fmla="*/ 458195 h 1315433"/>
              <a:gd name="connsiteX2" fmla="*/ 236288 w 1590050"/>
              <a:gd name="connsiteY2" fmla="*/ 498087 h 1315433"/>
              <a:gd name="connsiteX3" fmla="*/ 70217 w 1590050"/>
              <a:gd name="connsiteY3" fmla="*/ 843983 h 1315433"/>
              <a:gd name="connsiteX4" fmla="*/ 651339 w 1590050"/>
              <a:gd name="connsiteY4" fmla="*/ 1315434 h 1315433"/>
              <a:gd name="connsiteX5" fmla="*/ 1079209 w 1590050"/>
              <a:gd name="connsiteY5" fmla="*/ 1264350 h 1315433"/>
              <a:gd name="connsiteX6" fmla="*/ 1430420 w 1590050"/>
              <a:gd name="connsiteY6" fmla="*/ 957844 h 1315433"/>
              <a:gd name="connsiteX7" fmla="*/ 1590051 w 1590050"/>
              <a:gd name="connsiteY7" fmla="*/ 536415 h 1315433"/>
              <a:gd name="connsiteX8" fmla="*/ 1277105 w 1590050"/>
              <a:gd name="connsiteY8" fmla="*/ 312883 h 1315433"/>
              <a:gd name="connsiteX9" fmla="*/ 913138 w 1590050"/>
              <a:gd name="connsiteY9" fmla="*/ 134119 h 1315433"/>
              <a:gd name="connsiteX10" fmla="*/ 536415 w 1590050"/>
              <a:gd name="connsiteY10" fmla="*/ 83035 h 1315433"/>
              <a:gd name="connsiteX11" fmla="*/ 191581 w 1590050"/>
              <a:gd name="connsiteY11" fmla="*/ 843983 h 1315433"/>
              <a:gd name="connsiteX12" fmla="*/ 146875 w 1590050"/>
              <a:gd name="connsiteY12" fmla="*/ 1149426 h 1315433"/>
              <a:gd name="connsiteX13" fmla="*/ 1245217 w 1590050"/>
              <a:gd name="connsiteY13" fmla="*/ 1289923 h 1315433"/>
              <a:gd name="connsiteX14" fmla="*/ 1519771 w 1590050"/>
              <a:gd name="connsiteY14" fmla="*/ 344834 h 1315433"/>
              <a:gd name="connsiteX15" fmla="*/ 798214 w 1590050"/>
              <a:gd name="connsiteY15" fmla="*/ 223532 h 1315433"/>
              <a:gd name="connsiteX16" fmla="*/ 0 w 1590050"/>
              <a:gd name="connsiteY16" fmla="*/ 699235 h 1315433"/>
              <a:gd name="connsiteX17" fmla="*/ 434247 w 1590050"/>
              <a:gd name="connsiteY17" fmla="*/ 1315434 h 1315433"/>
              <a:gd name="connsiteX18" fmla="*/ 1468686 w 1590050"/>
              <a:gd name="connsiteY18" fmla="*/ 1091964 h 1315433"/>
              <a:gd name="connsiteX19" fmla="*/ 1155804 w 1590050"/>
              <a:gd name="connsiteY19" fmla="*/ 0 h 1315433"/>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146875 w 1590051"/>
              <a:gd name="connsiteY12" fmla="*/ 114942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344995 w 1590051"/>
              <a:gd name="connsiteY12" fmla="*/ 101988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727997 w 1519834"/>
              <a:gd name="connsiteY15" fmla="*/ 22353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428949 w 1519834"/>
              <a:gd name="connsiteY18" fmla="*/ 939564 h 1315434"/>
              <a:gd name="connsiteX19" fmla="*/ 1085587 w 1519834"/>
              <a:gd name="connsiteY19" fmla="*/ 0 h 1315434"/>
              <a:gd name="connsiteX20" fmla="*/ 555549 w 1519834"/>
              <a:gd name="connsiteY20" fmla="*/ 178826 h 131543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64030 w 1519834"/>
              <a:gd name="connsiteY17" fmla="*/ 131543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56410 w 1519834"/>
              <a:gd name="connsiteY17" fmla="*/ 124685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95791 h 1262879"/>
              <a:gd name="connsiteX1" fmla="*/ 214717 w 1519834"/>
              <a:gd name="connsiteY1" fmla="*/ 375160 h 1262879"/>
              <a:gd name="connsiteX2" fmla="*/ 166071 w 1519834"/>
              <a:gd name="connsiteY2" fmla="*/ 415052 h 1262879"/>
              <a:gd name="connsiteX3" fmla="*/ 0 w 1519834"/>
              <a:gd name="connsiteY3" fmla="*/ 760948 h 1262879"/>
              <a:gd name="connsiteX4" fmla="*/ 741142 w 1519834"/>
              <a:gd name="connsiteY4" fmla="*/ 1262879 h 1262879"/>
              <a:gd name="connsiteX5" fmla="*/ 1008992 w 1519834"/>
              <a:gd name="connsiteY5" fmla="*/ 1181315 h 1262879"/>
              <a:gd name="connsiteX6" fmla="*/ 1253523 w 1519834"/>
              <a:gd name="connsiteY6" fmla="*/ 829089 h 1262879"/>
              <a:gd name="connsiteX7" fmla="*/ 1519834 w 1519834"/>
              <a:gd name="connsiteY7" fmla="*/ 453380 h 1262879"/>
              <a:gd name="connsiteX8" fmla="*/ 1206888 w 1519834"/>
              <a:gd name="connsiteY8" fmla="*/ 229848 h 1262879"/>
              <a:gd name="connsiteX9" fmla="*/ 842921 w 1519834"/>
              <a:gd name="connsiteY9" fmla="*/ 51084 h 1262879"/>
              <a:gd name="connsiteX10" fmla="*/ 466198 w 1519834"/>
              <a:gd name="connsiteY10" fmla="*/ 0 h 1262879"/>
              <a:gd name="connsiteX11" fmla="*/ 220424 w 1519834"/>
              <a:gd name="connsiteY11" fmla="*/ 578068 h 1262879"/>
              <a:gd name="connsiteX12" fmla="*/ 274778 w 1519834"/>
              <a:gd name="connsiteY12" fmla="*/ 936851 h 1262879"/>
              <a:gd name="connsiteX13" fmla="*/ 1175000 w 1519834"/>
              <a:gd name="connsiteY13" fmla="*/ 1206888 h 1262879"/>
              <a:gd name="connsiteX14" fmla="*/ 1449554 w 1519834"/>
              <a:gd name="connsiteY14" fmla="*/ 261799 h 1262879"/>
              <a:gd name="connsiteX15" fmla="*/ 331757 w 1519834"/>
              <a:gd name="connsiteY15" fmla="*/ 79537 h 1262879"/>
              <a:gd name="connsiteX16" fmla="*/ 105043 w 1519834"/>
              <a:gd name="connsiteY16" fmla="*/ 639060 h 1262879"/>
              <a:gd name="connsiteX17" fmla="*/ 356410 w 1519834"/>
              <a:gd name="connsiteY17" fmla="*/ 1163819 h 1262879"/>
              <a:gd name="connsiteX18" fmla="*/ 1428949 w 1519834"/>
              <a:gd name="connsiteY18" fmla="*/ 856529 h 1262879"/>
              <a:gd name="connsiteX19" fmla="*/ 1055107 w 1519834"/>
              <a:gd name="connsiteY19" fmla="*/ 61745 h 1262879"/>
              <a:gd name="connsiteX20" fmla="*/ 555549 w 1519834"/>
              <a:gd name="connsiteY20" fmla="*/ 95791 h 1262879"/>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428949 w 1519834"/>
              <a:gd name="connsiteY18" fmla="*/ 85652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203699 w 1519834"/>
              <a:gd name="connsiteY19" fmla="*/ 489226 h 1268594"/>
              <a:gd name="connsiteX20" fmla="*/ 1055107 w 1519834"/>
              <a:gd name="connsiteY20" fmla="*/ 61745 h 1268594"/>
              <a:gd name="connsiteX21" fmla="*/ 555549 w 1519834"/>
              <a:gd name="connsiteY21"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489449 w 1519834"/>
              <a:gd name="connsiteY19" fmla="*/ 641626 h 1268594"/>
              <a:gd name="connsiteX20" fmla="*/ 1055107 w 1519834"/>
              <a:gd name="connsiteY20" fmla="*/ 61745 h 1268594"/>
              <a:gd name="connsiteX21" fmla="*/ 555549 w 1519834"/>
              <a:gd name="connsiteY21" fmla="*/ 95791 h 126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9834" h="1268594">
                <a:moveTo>
                  <a:pt x="555549" y="95791"/>
                </a:moveTo>
                <a:lnTo>
                  <a:pt x="214717" y="375160"/>
                </a:lnTo>
                <a:lnTo>
                  <a:pt x="166071" y="415052"/>
                </a:lnTo>
                <a:lnTo>
                  <a:pt x="0" y="760948"/>
                </a:lnTo>
                <a:lnTo>
                  <a:pt x="741142" y="1262879"/>
                </a:lnTo>
                <a:lnTo>
                  <a:pt x="1008992" y="1181315"/>
                </a:lnTo>
                <a:lnTo>
                  <a:pt x="1253523" y="829089"/>
                </a:lnTo>
                <a:lnTo>
                  <a:pt x="1519834" y="453380"/>
                </a:lnTo>
                <a:lnTo>
                  <a:pt x="1206888" y="229848"/>
                </a:lnTo>
                <a:lnTo>
                  <a:pt x="842921" y="51084"/>
                </a:lnTo>
                <a:lnTo>
                  <a:pt x="466198" y="0"/>
                </a:lnTo>
                <a:lnTo>
                  <a:pt x="220424" y="578068"/>
                </a:lnTo>
                <a:lnTo>
                  <a:pt x="274778" y="936851"/>
                </a:lnTo>
                <a:lnTo>
                  <a:pt x="1175000" y="1206888"/>
                </a:lnTo>
                <a:lnTo>
                  <a:pt x="1449554" y="261799"/>
                </a:lnTo>
                <a:lnTo>
                  <a:pt x="331757" y="79537"/>
                </a:lnTo>
                <a:lnTo>
                  <a:pt x="105043" y="639060"/>
                </a:lnTo>
                <a:lnTo>
                  <a:pt x="489760" y="1268594"/>
                </a:lnTo>
                <a:lnTo>
                  <a:pt x="1371799" y="989879"/>
                </a:lnTo>
                <a:lnTo>
                  <a:pt x="1489449" y="641626"/>
                </a:lnTo>
                <a:lnTo>
                  <a:pt x="1055107" y="61745"/>
                </a:lnTo>
                <a:lnTo>
                  <a:pt x="555549" y="95791"/>
                </a:lnTo>
                <a:close/>
              </a:path>
            </a:pathLst>
          </a:custGeom>
          <a:noFill/>
          <a:ln w="3175" cap="flat">
            <a:solidFill>
              <a:schemeClr val="accent1">
                <a:lumMod val="75000"/>
              </a:schemeClr>
            </a:solidFill>
            <a:prstDash val="solid"/>
            <a:miter/>
          </a:ln>
        </p:spPr>
        <p:txBody>
          <a:bodyPr rtlCol="0" anchor="ctr"/>
          <a:lstStyle/>
          <a:p>
            <a:pPr rtl="0"/>
            <a:endParaRPr lang="en-GB"/>
          </a:p>
        </p:txBody>
      </p:sp>
    </p:spTree>
    <p:extLst>
      <p:ext uri="{BB962C8B-B14F-4D97-AF65-F5344CB8AC3E}">
        <p14:creationId xmlns:p14="http://schemas.microsoft.com/office/powerpoint/2010/main" val="1417396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rtlCol="0"/>
          <a:lstStyle/>
          <a:p>
            <a:pPr rtl="0"/>
            <a:r>
              <a:rPr lang="en-GB"/>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pPr rtl="0"/>
            <a:r>
              <a:rPr lang="en-GB"/>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rtlCol="0">
            <a:normAutofit/>
          </a:bodyPr>
          <a:lstStyle/>
          <a:p>
            <a:pPr rtl="0"/>
            <a:r>
              <a:rPr lang="en-GB"/>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rtlCol="0">
            <a:normAutofit lnSpcReduction="10000"/>
          </a:bodyPr>
          <a:lstStyle/>
          <a:p>
            <a:pPr rtl="0"/>
            <a:r>
              <a:rPr lang="en-GB"/>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rtlCol="0"/>
          <a:lstStyle/>
          <a:p>
            <a:pPr rtl="0"/>
            <a:r>
              <a:rPr lang="en-GB"/>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rtlCol="0">
            <a:normAutofit lnSpcReduction="10000"/>
          </a:bodyPr>
          <a:lstStyle/>
          <a:p>
            <a:pPr rtl="0"/>
            <a:r>
              <a:rPr lang="en-GB"/>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rtlCol="0">
            <a:normAutofit/>
          </a:bodyPr>
          <a:lstStyle/>
          <a:p>
            <a:pPr rtl="0"/>
            <a:r>
              <a:rPr lang="en-GB"/>
              <a:t>Gather feedback and adjust product design as necessary</a:t>
            </a:r>
          </a:p>
          <a:p>
            <a:pPr rtl="0"/>
            <a:endParaRPr lang="en-GB"/>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13</a:t>
            </a:fld>
            <a:endParaRPr lang="en-GB"/>
          </a:p>
        </p:txBody>
      </p:sp>
    </p:spTree>
    <p:extLst>
      <p:ext uri="{BB962C8B-B14F-4D97-AF65-F5344CB8AC3E}">
        <p14:creationId xmlns:p14="http://schemas.microsoft.com/office/powerpoint/2010/main" val="1472106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rtlCol="0"/>
          <a:lstStyle/>
          <a:p>
            <a:pPr rtl="0"/>
            <a:r>
              <a:rPr lang="en-gb"/>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rtlCol="0"/>
          <a:lstStyle/>
          <a:p>
            <a:pPr rtl="0"/>
            <a:r>
              <a:rPr lang="en-gb"/>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502124837"/>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rtl="0"/>
                      <a:r>
                        <a:rPr lang="en-GB" sz="1400" b="0" cap="all" spc="150" noProof="0">
                          <a:solidFill>
                            <a:schemeClr val="tx1">
                              <a:lumMod val="75000"/>
                              <a:lumOff val="25000"/>
                            </a:schemeClr>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rtl="0"/>
                      <a:endParaRPr lang="en-GB" sz="1400" b="0" cap="all" spc="150" baseline="0" noProof="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rtl="0"/>
                      <a:endParaRPr lang="en-GB" sz="1400" b="0" cap="all" spc="150" baseline="0" noProof="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rtl="0"/>
                      <a:endParaRPr lang="en-GB" sz="1400" b="0" cap="all" spc="150" baseline="0" noProof="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rtl="0"/>
                      <a:endParaRPr lang="en-GB" sz="1400" b="0" cap="all" spc="150" baseline="0" noProof="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3065677"/>
                  </a:ext>
                </a:extLst>
              </a:tr>
              <a:tr h="638982">
                <a:tc>
                  <a:txBody>
                    <a:bodyPr/>
                    <a:lstStyle/>
                    <a:p>
                      <a:pPr algn="ctr" rtl="0"/>
                      <a:endParaRPr lang="en-GB" sz="1200" noProof="0">
                        <a:solidFill>
                          <a:schemeClr val="tx1">
                            <a:lumMod val="75000"/>
                            <a:lumOff val="25000"/>
                          </a:schemeClr>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lumMod val="75000"/>
                              <a:lumOff val="25000"/>
                            </a:schemeClr>
                          </a:solidFill>
                          <a:latin typeface="+mn-lt"/>
                          <a:ea typeface="+mn-ea"/>
                          <a:cs typeface="+mn-cs"/>
                        </a:rPr>
                        <a:t>Clients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lumMod val="75000"/>
                              <a:lumOff val="25000"/>
                            </a:schemeClr>
                          </a:solidFill>
                          <a:latin typeface="+mn-lt"/>
                          <a:ea typeface="+mn-ea"/>
                          <a:cs typeface="+mn-cs"/>
                        </a:rPr>
                        <a:t>Orders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lumMod val="75000"/>
                              <a:lumOff val="25000"/>
                            </a:schemeClr>
                          </a:solidFill>
                          <a:latin typeface="+mn-lt"/>
                          <a:ea typeface="+mn-ea"/>
                          <a:cs typeface="+mn-cs"/>
                        </a:rPr>
                        <a:t>Gross revenue</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lumMod val="75000"/>
                              <a:lumOff val="25000"/>
                            </a:schemeClr>
                          </a:solidFill>
                          <a:latin typeface="+mn-lt"/>
                          <a:ea typeface="+mn-ea"/>
                          <a:cs typeface="+mn-cs"/>
                        </a:rPr>
                        <a:t>Net revenue</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rtl="0"/>
                      <a:r>
                        <a:rPr lang="en-GB" sz="1200" noProof="0">
                          <a:solidFill>
                            <a:schemeClr val="tx1">
                              <a:lumMod val="75000"/>
                              <a:lumOff val="25000"/>
                            </a:schemeClr>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10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1100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£10,000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£7,000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rtl="0"/>
                      <a:r>
                        <a:rPr lang="en-GB" sz="1200" noProof="0">
                          <a:solidFill>
                            <a:schemeClr val="tx1">
                              <a:lumMod val="75000"/>
                              <a:lumOff val="25000"/>
                            </a:schemeClr>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20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200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lumMod val="75000"/>
                              <a:lumOff val="25000"/>
                            </a:schemeClr>
                          </a:solidFill>
                        </a:rPr>
                        <a:t>£20,000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lumMod val="75000"/>
                              <a:lumOff val="25000"/>
                            </a:schemeClr>
                          </a:solidFill>
                        </a:rPr>
                        <a:t>£16,000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rtl="0"/>
                      <a:r>
                        <a:rPr lang="en-GB" sz="1200" noProof="0">
                          <a:solidFill>
                            <a:schemeClr val="tx1">
                              <a:lumMod val="75000"/>
                              <a:lumOff val="25000"/>
                            </a:schemeClr>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30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300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lumMod val="75000"/>
                              <a:lumOff val="25000"/>
                            </a:schemeClr>
                          </a:solidFill>
                        </a:rPr>
                        <a:t>£30,000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lumMod val="75000"/>
                              <a:lumOff val="25000"/>
                            </a:schemeClr>
                          </a:solidFill>
                        </a:rPr>
                        <a:t>£25,000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rtl="0"/>
                      <a:r>
                        <a:rPr lang="en-GB" sz="1200" noProof="0">
                          <a:solidFill>
                            <a:schemeClr val="tx1">
                              <a:lumMod val="75000"/>
                              <a:lumOff val="25000"/>
                            </a:schemeClr>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40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a:r>
                        <a:rPr lang="en-GB" sz="1200" noProof="0">
                          <a:solidFill>
                            <a:schemeClr val="tx1">
                              <a:lumMod val="75000"/>
                              <a:lumOff val="25000"/>
                            </a:schemeClr>
                          </a:solidFill>
                        </a:rPr>
                        <a:t>400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lumMod val="75000"/>
                              <a:lumOff val="25000"/>
                            </a:schemeClr>
                          </a:solidFill>
                        </a:rPr>
                        <a:t>£40,000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75000"/>
                              <a:lumOff val="25000"/>
                            </a:schemeClr>
                          </a:solidFill>
                        </a:rPr>
                        <a:t>£30,000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rtlCol="0">
            <a:normAutofit/>
          </a:bodyPr>
          <a:lstStyle/>
          <a:p>
            <a:pPr rtl="0"/>
            <a:r>
              <a:rPr lang="en-gb"/>
              <a:t>REVENUE BY YEAR</a:t>
            </a:r>
          </a:p>
        </p:txBody>
      </p:sp>
      <p:graphicFrame>
        <p:nvGraphicFramePr>
          <p:cNvPr id="34" name="Content Placeholder 13" descr="Chart">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2280144651"/>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US" smtClean="0"/>
              <a:pPr/>
              <a:t>14</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871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rtlCol="0"/>
          <a:lstStyle/>
          <a:p>
            <a:pPr rtl="0"/>
            <a:r>
              <a:rPr lang="en-GB"/>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DRAFT BLUEPRINTS</a:t>
            </a:r>
            <a:endParaRPr lang="en-GB" sz="110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GATHER FEEDBACK</a:t>
            </a:r>
            <a:endParaRPr lang="en-GB" sz="110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DELIVER TO CLIENT</a:t>
            </a:r>
            <a:endParaRPr lang="en-GB" sz="110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rtlCol="0">
            <a:normAutofit/>
          </a:bodyPr>
          <a:lstStyle/>
          <a:p>
            <a:pPr rtl="0"/>
            <a:r>
              <a:rPr lang="en-GB"/>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rtlCol="0">
            <a:normAutofit fontScale="85000" lnSpcReduction="20000"/>
          </a:bodyPr>
          <a:lstStyle/>
          <a:p>
            <a:pPr rtl="0"/>
            <a:r>
              <a:rPr lang="en-GB"/>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rtlCol="0">
            <a:normAutofit fontScale="85000" lnSpcReduction="20000"/>
          </a:bodyPr>
          <a:lstStyle/>
          <a:p>
            <a:pPr rtl="0"/>
            <a:r>
              <a:rPr lang="en-GB"/>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rtlCol="0">
            <a:normAutofit fontScale="85000" lnSpcReduction="20000"/>
          </a:bodyPr>
          <a:lstStyle/>
          <a:p>
            <a:pPr rtl="0"/>
            <a:r>
              <a:rPr lang="en-GB"/>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rtlCol="0">
            <a:normAutofit fontScale="85000" lnSpcReduction="20000"/>
          </a:bodyPr>
          <a:lstStyle/>
          <a:p>
            <a:pPr rtl="0"/>
            <a:r>
              <a:rPr lang="en-GB"/>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rtlCol="0">
            <a:normAutofit fontScale="85000" lnSpcReduction="20000"/>
          </a:bodyPr>
          <a:lstStyle/>
          <a:p>
            <a:pPr rtl="0"/>
            <a:r>
              <a:rPr lang="en-GB"/>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rtlCol="0">
            <a:normAutofit fontScale="85000" lnSpcReduction="20000"/>
          </a:bodyPr>
          <a:lstStyle/>
          <a:p>
            <a:pPr rtl="0"/>
            <a:r>
              <a:rPr lang="en-GB"/>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rtlCol="0">
            <a:normAutofit fontScale="85000" lnSpcReduction="20000"/>
          </a:bodyPr>
          <a:lstStyle/>
          <a:p>
            <a:pPr rtl="0"/>
            <a:r>
              <a:rPr lang="en-GB"/>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rtlCol="0">
            <a:normAutofit fontScale="85000" lnSpcReduction="20000"/>
          </a:bodyPr>
          <a:lstStyle/>
          <a:p>
            <a:pPr rtl="0"/>
            <a:r>
              <a:rPr lang="en-GB"/>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rtlCol="0">
            <a:normAutofit fontScale="85000" lnSpcReduction="20000"/>
          </a:bodyPr>
          <a:lstStyle/>
          <a:p>
            <a:pPr rtl="0"/>
            <a:r>
              <a:rPr lang="en-GB"/>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rtlCol="0">
            <a:normAutofit fontScale="85000" lnSpcReduction="20000"/>
          </a:bodyPr>
          <a:lstStyle/>
          <a:p>
            <a:pPr rtl="0"/>
            <a:r>
              <a:rPr lang="en-GB"/>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rtlCol="0">
            <a:normAutofit fontScale="85000" lnSpcReduction="20000"/>
          </a:bodyPr>
          <a:lstStyle/>
          <a:p>
            <a:pPr rtl="0"/>
            <a:r>
              <a:rPr lang="en-GB"/>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rtlCol="0">
            <a:normAutofit fontScale="85000" lnSpcReduction="20000"/>
          </a:bodyPr>
          <a:lstStyle/>
          <a:p>
            <a:pPr rtl="0"/>
            <a:r>
              <a:rPr lang="en-GB"/>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rtlCol="0">
            <a:normAutofit/>
          </a:bodyPr>
          <a:lstStyle/>
          <a:p>
            <a:pPr rtl="0"/>
            <a:r>
              <a:rPr lang="en-GB"/>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rtlCol="0">
            <a:normAutofit fontScale="85000" lnSpcReduction="20000"/>
          </a:bodyPr>
          <a:lstStyle/>
          <a:p>
            <a:pPr rtl="0"/>
            <a:r>
              <a:rPr lang="en-GB"/>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rtlCol="0">
            <a:normAutofit fontScale="85000" lnSpcReduction="20000"/>
          </a:bodyPr>
          <a:lstStyle/>
          <a:p>
            <a:pPr rtl="0"/>
            <a:r>
              <a:rPr lang="en-GB"/>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rtlCol="0">
            <a:normAutofit fontScale="85000" lnSpcReduction="20000"/>
          </a:bodyPr>
          <a:lstStyle/>
          <a:p>
            <a:pPr rtl="0"/>
            <a:r>
              <a:rPr lang="en-GB"/>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rtlCol="0">
            <a:normAutofit fontScale="85000" lnSpcReduction="20000"/>
          </a:bodyPr>
          <a:lstStyle/>
          <a:p>
            <a:pPr rtl="0"/>
            <a:r>
              <a:rPr lang="en-GB"/>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rtlCol="0">
            <a:normAutofit fontScale="85000" lnSpcReduction="20000"/>
          </a:bodyPr>
          <a:lstStyle/>
          <a:p>
            <a:pPr rtl="0"/>
            <a:r>
              <a:rPr lang="en-GB"/>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rtlCol="0">
            <a:normAutofit fontScale="85000" lnSpcReduction="20000"/>
          </a:bodyPr>
          <a:lstStyle/>
          <a:p>
            <a:pPr rtl="0"/>
            <a:r>
              <a:rPr lang="en-GB"/>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rtlCol="0">
            <a:normAutofit fontScale="85000" lnSpcReduction="20000"/>
          </a:bodyPr>
          <a:lstStyle/>
          <a:p>
            <a:pPr rtl="0"/>
            <a:r>
              <a:rPr lang="en-GB"/>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rtlCol="0">
            <a:normAutofit fontScale="85000" lnSpcReduction="20000"/>
          </a:bodyPr>
          <a:lstStyle/>
          <a:p>
            <a:pPr rtl="0"/>
            <a:r>
              <a:rPr lang="en-GB"/>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rtlCol="0">
            <a:normAutofit fontScale="85000" lnSpcReduction="20000"/>
          </a:bodyPr>
          <a:lstStyle/>
          <a:p>
            <a:pPr rtl="0"/>
            <a:r>
              <a:rPr lang="en-GB"/>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rtlCol="0">
            <a:normAutofit fontScale="85000" lnSpcReduction="20000"/>
          </a:bodyPr>
          <a:lstStyle/>
          <a:p>
            <a:pPr rtl="0"/>
            <a:r>
              <a:rPr lang="en-GB"/>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rtlCol="0">
            <a:normAutofit fontScale="85000" lnSpcReduction="20000"/>
          </a:bodyPr>
          <a:lstStyle/>
          <a:p>
            <a:pPr rtl="0"/>
            <a:r>
              <a:rPr lang="en-GB"/>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rtlCol="0">
            <a:normAutofit fontScale="85000" lnSpcReduction="20000"/>
          </a:bodyPr>
          <a:lstStyle/>
          <a:p>
            <a:pPr rtl="0"/>
            <a:r>
              <a:rPr lang="en-GB"/>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036257" y="5206365"/>
            <a:ext cx="250352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RUN FOCUS GROUPS</a:t>
            </a:r>
            <a:endParaRPr lang="en-GB" sz="110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TEST DESIGN</a:t>
            </a:r>
            <a:endParaRPr lang="en-GB" sz="110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LAUNCH DESIGN</a:t>
            </a:r>
            <a:endParaRPr lang="en-GB" sz="110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GB" smtClean="0"/>
              <a:pPr/>
              <a:t>15</a:t>
            </a:fld>
            <a:endParaRPr lang="en-GB"/>
          </a:p>
        </p:txBody>
      </p:sp>
    </p:spTree>
    <p:extLst>
      <p:ext uri="{BB962C8B-B14F-4D97-AF65-F5344CB8AC3E}">
        <p14:creationId xmlns:p14="http://schemas.microsoft.com/office/powerpoint/2010/main" val="3084972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rtlCol="0" anchor="ctr">
            <a:normAutofit/>
          </a:bodyPr>
          <a:lstStyle/>
          <a:p>
            <a:pPr rtl="0"/>
            <a:r>
              <a:rPr lang="en-GB"/>
              <a:t>FINANCIALS</a:t>
            </a:r>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16</a:t>
            </a:fld>
            <a:endParaRPr lang="en-GB"/>
          </a:p>
        </p:txBody>
      </p:sp>
      <p:graphicFrame>
        <p:nvGraphicFramePr>
          <p:cNvPr id="17" name="Table 9">
            <a:extLst>
              <a:ext uri="{FF2B5EF4-FFF2-40B4-BE49-F238E27FC236}">
                <a16:creationId xmlns:a16="http://schemas.microsoft.com/office/drawing/2014/main" id="{D6E90A56-AF21-45DC-A08C-27875260C7CB}"/>
              </a:ext>
            </a:extLst>
          </p:cNvPr>
          <p:cNvGraphicFramePr>
            <a:graphicFrameLocks noGrp="1"/>
          </p:cNvGraphicFramePr>
          <p:nvPr>
            <p:ph type="dgm" sz="quarter" idx="15"/>
            <p:extLst>
              <p:ext uri="{D42A27DB-BD31-4B8C-83A1-F6EECF244321}">
                <p14:modId xmlns:p14="http://schemas.microsoft.com/office/powerpoint/2010/main" val="3748096491"/>
              </p:ext>
            </p:extLst>
          </p:nvPr>
        </p:nvGraphicFramePr>
        <p:xfrm>
          <a:off x="838200" y="2136775"/>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rtl="0" fontAlgn="b"/>
                      <a:endParaRPr lang="en-GB" sz="1200" b="0" i="0" u="none" strike="noStrike" noProof="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n-GB" sz="1200" b="1" u="none" strike="noStrike" noProof="0">
                          <a:solidFill>
                            <a:schemeClr val="tx1">
                              <a:lumMod val="75000"/>
                              <a:lumOff val="25000"/>
                            </a:schemeClr>
                          </a:solidFill>
                          <a:effectLst/>
                        </a:rPr>
                        <a:t>Year 1</a:t>
                      </a:r>
                      <a:endParaRPr lang="en-GB" sz="1200" b="1" i="0" u="none" strike="noStrike" noProof="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n-GB" sz="1200" b="1" u="none" strike="noStrike" noProof="0">
                          <a:solidFill>
                            <a:schemeClr val="tx1">
                              <a:lumMod val="75000"/>
                              <a:lumOff val="25000"/>
                            </a:schemeClr>
                          </a:solidFill>
                          <a:effectLst/>
                        </a:rPr>
                        <a:t>Year 2</a:t>
                      </a:r>
                      <a:endParaRPr lang="en-GB" sz="1200" b="1" i="0" u="none" strike="noStrike" noProof="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n-GB" sz="1200" b="1" u="none" strike="noStrike" noProof="0">
                          <a:solidFill>
                            <a:schemeClr val="tx1">
                              <a:lumMod val="75000"/>
                              <a:lumOff val="25000"/>
                            </a:schemeClr>
                          </a:solidFill>
                          <a:effectLst/>
                        </a:rPr>
                        <a:t>Year 3</a:t>
                      </a:r>
                      <a:endParaRPr lang="en-GB" sz="1200" b="1" i="0" u="none" strike="noStrike" noProof="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l" rtl="0" fontAlgn="b"/>
                      <a:endParaRPr lang="en-GB" sz="1200" b="0" i="0" u="none" strike="noStrike" noProof="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40773105"/>
                  </a:ext>
                </a:extLst>
              </a:tr>
              <a:tr h="284706">
                <a:tc>
                  <a:txBody>
                    <a:bodyPr/>
                    <a:lstStyle/>
                    <a:p>
                      <a:pPr algn="l" rtl="0" fontAlgn="b"/>
                      <a:r>
                        <a:rPr lang="en-GB" sz="1200" b="0" i="0" u="none" strike="noStrike" noProof="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rtl="0" fontAlgn="b"/>
                      <a:r>
                        <a:rPr lang="en-GB" sz="1200" b="0" u="none" strike="noStrike" noProof="0">
                          <a:solidFill>
                            <a:schemeClr val="tx1"/>
                          </a:solidFill>
                          <a:effectLst/>
                        </a:rPr>
                        <a:t>Users</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1,600,000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rtl="0" fontAlgn="b"/>
                      <a:r>
                        <a:rPr lang="en-GB" sz="1200" b="0" u="none" strike="noStrike" noProof="0">
                          <a:solidFill>
                            <a:schemeClr val="tx1"/>
                          </a:solidFill>
                          <a:effectLst/>
                        </a:rPr>
                        <a:t>Sales</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16,000,000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rtl="0" fontAlgn="b"/>
                      <a:r>
                        <a:rPr lang="en-GB" sz="1200" b="0" u="none" strike="noStrike" noProof="0">
                          <a:solidFill>
                            <a:schemeClr val="tx1"/>
                          </a:solidFill>
                          <a:effectLst/>
                        </a:rPr>
                        <a:t>Average price per sale</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75</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80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90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rtl="0" fontAlgn="b"/>
                      <a:r>
                        <a:rPr lang="en-GB" sz="1200" b="0" u="none" strike="noStrike" noProof="0">
                          <a:solidFill>
                            <a:schemeClr val="tx1"/>
                          </a:solidFill>
                          <a:effectLst/>
                        </a:rPr>
                        <a:t>Revenue @ 15%</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5,625,000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48,000,000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216,000,000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rtl="0" fontAlgn="b"/>
                      <a:r>
                        <a:rPr lang="en-GB" sz="1200" b="1" u="none" strike="noStrike" noProof="0">
                          <a:solidFill>
                            <a:schemeClr val="tx1"/>
                          </a:solidFill>
                          <a:effectLst/>
                        </a:rPr>
                        <a:t>GROSS PROFIT</a:t>
                      </a:r>
                      <a:endParaRPr lang="en-GB" sz="1200" b="1"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5,625,000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48,000,000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216,000,000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rtl="0" fontAlgn="b"/>
                      <a:r>
                        <a:rPr lang="en-GB" sz="1200" b="0" u="none" strike="noStrike" noProof="0">
                          <a:solidFill>
                            <a:schemeClr val="tx1"/>
                          </a:solidFill>
                          <a:effectLst/>
                        </a:rPr>
                        <a:t>Expenses</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Sales &amp; marketing</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5,062,500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38,400,000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151,200,000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70%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Customer service</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1,687,500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9,600,000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21,600,000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10%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Product development</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562,500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10,800,000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5%</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Research</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281,250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4,320,000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2%</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rtl="0" fontAlgn="b"/>
                      <a:r>
                        <a:rPr lang="en-GB" sz="1200" b="1" u="none" strike="noStrike" noProof="0">
                          <a:solidFill>
                            <a:schemeClr val="tx1"/>
                          </a:solidFill>
                          <a:effectLst/>
                        </a:rPr>
                        <a:t>TOTAL EXPENSES</a:t>
                      </a:r>
                      <a:endParaRPr lang="en-GB" sz="1200" b="1"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7,593,750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52,800,000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187,920,000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rtl="0" fontAlgn="b"/>
                      <a:endParaRPr lang="en-GB" sz="12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rtlCol="0"/>
          <a:lstStyle/>
          <a:p>
            <a:pPr rtl="0"/>
            <a:r>
              <a:rPr lang="en-GB"/>
              <a:t>MEET THE TEAM</a:t>
            </a:r>
          </a:p>
        </p:txBody>
      </p:sp>
      <p:pic>
        <p:nvPicPr>
          <p:cNvPr id="26" name="Picture Placeholder 25" descr="Team member headshot">
            <a:extLst>
              <a:ext uri="{FF2B5EF4-FFF2-40B4-BE49-F238E27FC236}">
                <a16:creationId xmlns:a16="http://schemas.microsoft.com/office/drawing/2014/main" id="{E287A61C-B7FB-4B69-97E7-7B7AFC8A5D33}"/>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1487181" y="2886074"/>
            <a:ext cx="1845511" cy="1845511"/>
          </a:xfrm>
        </p:spPr>
      </p:pic>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a:stretch/>
        </p:blipFill>
        <p:spPr>
          <a:xfrm>
            <a:off x="3836914" y="2886074"/>
            <a:ext cx="1845511" cy="1845511"/>
          </a:xfrm>
        </p:spPr>
      </p:pic>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a:stretch/>
        </p:blipFill>
        <p:spPr>
          <a:xfrm>
            <a:off x="6327578" y="2886074"/>
            <a:ext cx="1845511" cy="1845511"/>
          </a:xfrm>
        </p:spPr>
      </p:pic>
      <p:pic>
        <p:nvPicPr>
          <p:cNvPr id="43" name="Picture Placeholder 42" descr="Team member headshot">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6">
            <a:extLst>
              <a:ext uri="{28A0092B-C50C-407E-A947-70E740481C1C}">
                <a14:useLocalDpi xmlns:a14="http://schemas.microsoft.com/office/drawing/2010/main" val="0"/>
              </a:ext>
            </a:extLst>
          </a:blip>
          <a:srcRect/>
          <a:stretch/>
        </p:blipFill>
        <p:spPr>
          <a:xfrm>
            <a:off x="8747458" y="2886074"/>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343248" y="5084524"/>
            <a:ext cx="2123743" cy="343061"/>
          </a:xfrm>
        </p:spPr>
        <p:txBody>
          <a:bodyPr rtlCol="0"/>
          <a:lstStyle/>
          <a:p>
            <a:pPr rtl="0"/>
            <a:r>
              <a:rPr lang="en-GB"/>
              <a:t>TAKUMA HAYASHI​</a:t>
            </a:r>
          </a:p>
        </p:txBody>
      </p:sp>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3692980" y="5099206"/>
            <a:ext cx="2135755" cy="343061"/>
          </a:xfrm>
        </p:spPr>
        <p:txBody>
          <a:bodyPr rtlCol="0"/>
          <a:lstStyle/>
          <a:p>
            <a:pPr rtl="0"/>
            <a:r>
              <a:rPr lang="en-GB"/>
              <a:t>MIRJAM NILSSON​</a:t>
            </a:r>
          </a:p>
        </p:txBody>
      </p:sp>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6183644" y="5099206"/>
            <a:ext cx="2123743" cy="343061"/>
          </a:xfrm>
        </p:spPr>
        <p:txBody>
          <a:bodyPr rtlCol="0"/>
          <a:lstStyle/>
          <a:p>
            <a:pPr rtl="0"/>
            <a:r>
              <a:rPr lang="en-GB"/>
              <a:t>FLORA BERGGREN​</a:t>
            </a:r>
          </a:p>
        </p:txBody>
      </p:sp>
      <p:sp>
        <p:nvSpPr>
          <p:cNvPr id="35" name="Text Placeholder 34">
            <a:extLst>
              <a:ext uri="{FF2B5EF4-FFF2-40B4-BE49-F238E27FC236}">
                <a16:creationId xmlns:a16="http://schemas.microsoft.com/office/drawing/2014/main" id="{60D37431-6A3A-47F6-A367-B5ADCF66AE37}"/>
              </a:ext>
            </a:extLst>
          </p:cNvPr>
          <p:cNvSpPr>
            <a:spLocks noGrp="1"/>
          </p:cNvSpPr>
          <p:nvPr>
            <p:ph type="body" idx="20"/>
          </p:nvPr>
        </p:nvSpPr>
        <p:spPr>
          <a:xfrm>
            <a:off x="8603525" y="5084524"/>
            <a:ext cx="2123742" cy="343061"/>
          </a:xfrm>
        </p:spPr>
        <p:txBody>
          <a:bodyPr rtlCol="0"/>
          <a:lstStyle/>
          <a:p>
            <a:pPr rtl="0"/>
            <a:r>
              <a:rPr lang="en-GB"/>
              <a:t>RAJESH SANTOSHI​</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rtlCol="0"/>
          <a:lstStyle/>
          <a:p>
            <a:pPr rtl="0"/>
            <a:r>
              <a:rPr lang="en-GB"/>
              <a:t>President</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rtlCol="0"/>
          <a:lstStyle/>
          <a:p>
            <a:pPr rtl="0"/>
            <a:r>
              <a:rPr lang="en-GB"/>
              <a:t>Chief Executive Officer</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rtlCol="0"/>
          <a:lstStyle/>
          <a:p>
            <a:pPr rtl="0"/>
            <a:r>
              <a:rPr lang="en-GB"/>
              <a:t>Chief Operations Officer</a:t>
            </a:r>
          </a:p>
          <a:p>
            <a:pPr rtl="0"/>
            <a:endParaRPr lang="en-GB"/>
          </a:p>
        </p:txBody>
      </p:sp>
      <p:sp>
        <p:nvSpPr>
          <p:cNvPr id="39" name="Text Placeholder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rtlCol="0"/>
          <a:lstStyle/>
          <a:p>
            <a:pPr rtl="0"/>
            <a:r>
              <a:rPr lang="en-GB"/>
              <a:t>VP Marketing</a:t>
            </a:r>
          </a:p>
          <a:p>
            <a:pPr rtl="0"/>
            <a:endParaRPr lang="en-GB"/>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17</a:t>
            </a:fld>
            <a:endParaRPr lang="en-GB"/>
          </a:p>
        </p:txBody>
      </p:sp>
    </p:spTree>
    <p:extLst>
      <p:ext uri="{BB962C8B-B14F-4D97-AF65-F5344CB8AC3E}">
        <p14:creationId xmlns:p14="http://schemas.microsoft.com/office/powerpoint/2010/main" val="3477453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rtlCol="0"/>
          <a:lstStyle/>
          <a:p>
            <a:pPr rtl="0"/>
            <a:r>
              <a:rPr lang="en-GB"/>
              <a:t>MEET THE TEAM  </a:t>
            </a:r>
          </a:p>
        </p:txBody>
      </p:sp>
      <p:pic>
        <p:nvPicPr>
          <p:cNvPr id="38" name="Picture Placeholder 37" descr="Team member headshot">
            <a:extLst>
              <a:ext uri="{FF2B5EF4-FFF2-40B4-BE49-F238E27FC236}">
                <a16:creationId xmlns:a16="http://schemas.microsoft.com/office/drawing/2014/main" id="{6E64DC71-C9CE-47FF-A3B6-597A9B09EC98}"/>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1877176" y="2428875"/>
            <a:ext cx="1066800" cy="1066800"/>
          </a:xfrm>
        </p:spPr>
      </p:pic>
      <p:pic>
        <p:nvPicPr>
          <p:cNvPr id="42" name="Picture Placeholder 41" descr="Team member headshot">
            <a:extLst>
              <a:ext uri="{FF2B5EF4-FFF2-40B4-BE49-F238E27FC236}">
                <a16:creationId xmlns:a16="http://schemas.microsoft.com/office/drawing/2014/main" id="{03BE9C30-CAE7-4AE5-8722-B20E200AC048}"/>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a:stretch/>
        </p:blipFill>
        <p:spPr>
          <a:xfrm>
            <a:off x="4226270" y="2428875"/>
            <a:ext cx="1066800" cy="1066800"/>
          </a:xfrm>
        </p:spPr>
      </p:pic>
      <p:pic>
        <p:nvPicPr>
          <p:cNvPr id="46" name="Picture Placeholder 45" descr="Team member headshot">
            <a:extLst>
              <a:ext uri="{FF2B5EF4-FFF2-40B4-BE49-F238E27FC236}">
                <a16:creationId xmlns:a16="http://schemas.microsoft.com/office/drawing/2014/main" id="{F8B9EE09-9F4E-47F5-82E5-A135C37A6E26}"/>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a:stretch/>
        </p:blipFill>
        <p:spPr>
          <a:xfrm>
            <a:off x="6716934" y="2428875"/>
            <a:ext cx="1066800" cy="1066800"/>
          </a:xfrm>
        </p:spPr>
      </p:pic>
      <p:pic>
        <p:nvPicPr>
          <p:cNvPr id="54" name="Picture Placeholder 53" descr="Team member headshot">
            <a:extLst>
              <a:ext uri="{FF2B5EF4-FFF2-40B4-BE49-F238E27FC236}">
                <a16:creationId xmlns:a16="http://schemas.microsoft.com/office/drawing/2014/main" id="{B789A13E-52C8-4E94-89B2-D51A0739F00A}"/>
              </a:ext>
            </a:extLst>
          </p:cNvPr>
          <p:cNvPicPr>
            <a:picLocks noGrp="1" noChangeAspect="1"/>
          </p:cNvPicPr>
          <p:nvPr>
            <p:ph type="pic" sz="quarter" idx="17"/>
          </p:nvPr>
        </p:nvPicPr>
        <p:blipFill rotWithShape="1">
          <a:blip r:embed="rId6">
            <a:extLst>
              <a:ext uri="{28A0092B-C50C-407E-A947-70E740481C1C}">
                <a14:useLocalDpi xmlns:a14="http://schemas.microsoft.com/office/drawing/2010/main" val="0"/>
              </a:ext>
            </a:extLst>
          </a:blip>
          <a:srcRect/>
          <a:stretch/>
        </p:blipFill>
        <p:spPr>
          <a:xfrm>
            <a:off x="9136814" y="2428875"/>
            <a:ext cx="1066800" cy="1066800"/>
          </a:xfrm>
        </p:spPr>
      </p:pic>
      <p:sp>
        <p:nvSpPr>
          <p:cNvPr id="36" name="Text Placeholder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rtlCol="0"/>
          <a:lstStyle/>
          <a:p>
            <a:pPr rtl="0"/>
            <a:r>
              <a:rPr lang="en-GB"/>
              <a:t>TAKUMA HAYASHI</a:t>
            </a:r>
          </a:p>
          <a:p>
            <a:pPr rtl="0"/>
            <a:endParaRPr lang="en-GB"/>
          </a:p>
        </p:txBody>
      </p:sp>
      <p:sp>
        <p:nvSpPr>
          <p:cNvPr id="52" name="Text Placeholder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rtlCol="0"/>
          <a:lstStyle/>
          <a:p>
            <a:pPr rtl="0"/>
            <a:r>
              <a:rPr lang="en-GB"/>
              <a:t>President</a:t>
            </a:r>
          </a:p>
        </p:txBody>
      </p:sp>
      <p:sp>
        <p:nvSpPr>
          <p:cNvPr id="49" name="Text Placeholder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rtlCol="0"/>
          <a:lstStyle/>
          <a:p>
            <a:pPr rtl="0"/>
            <a:r>
              <a:rPr lang="en-GB"/>
              <a:t>MIRJAM NILSSON​</a:t>
            </a:r>
          </a:p>
        </p:txBody>
      </p:sp>
      <p:sp>
        <p:nvSpPr>
          <p:cNvPr id="61" name="Text Placeholder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rtlCol="0"/>
          <a:lstStyle/>
          <a:p>
            <a:pPr rtl="0"/>
            <a:r>
              <a:rPr lang="en-GB"/>
              <a:t>Chief Executive Officer</a:t>
            </a:r>
          </a:p>
        </p:txBody>
      </p:sp>
      <p:sp>
        <p:nvSpPr>
          <p:cNvPr id="50" name="Text Placeholder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rtlCol="0"/>
          <a:lstStyle/>
          <a:p>
            <a:pPr rtl="0"/>
            <a:r>
              <a:rPr lang="en-GB"/>
              <a:t>FLORA BERGGREN​</a:t>
            </a:r>
          </a:p>
          <a:p>
            <a:pPr rtl="0"/>
            <a:endParaRPr lang="en-GB"/>
          </a:p>
        </p:txBody>
      </p:sp>
      <p:sp>
        <p:nvSpPr>
          <p:cNvPr id="62" name="Text Placeholder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rtlCol="0"/>
          <a:lstStyle/>
          <a:p>
            <a:pPr rtl="0"/>
            <a:r>
              <a:rPr lang="en-GB"/>
              <a:t>Chief Operations Officer</a:t>
            </a:r>
          </a:p>
        </p:txBody>
      </p:sp>
      <p:sp>
        <p:nvSpPr>
          <p:cNvPr id="51" name="Text Placeholder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rtlCol="0"/>
          <a:lstStyle/>
          <a:p>
            <a:pPr rtl="0"/>
            <a:r>
              <a:rPr lang="en-GB"/>
              <a:t>RAJESH SANTOSHI</a:t>
            </a:r>
          </a:p>
        </p:txBody>
      </p:sp>
      <p:sp>
        <p:nvSpPr>
          <p:cNvPr id="63" name="Text Placeholder 62">
            <a:extLst>
              <a:ext uri="{FF2B5EF4-FFF2-40B4-BE49-F238E27FC236}">
                <a16:creationId xmlns:a16="http://schemas.microsoft.com/office/drawing/2014/main" id="{41797063-0A46-4FCE-86CB-FC66F997C5F4}"/>
              </a:ext>
            </a:extLst>
          </p:cNvPr>
          <p:cNvSpPr>
            <a:spLocks noGrp="1"/>
          </p:cNvSpPr>
          <p:nvPr>
            <p:ph type="body" idx="24"/>
          </p:nvPr>
        </p:nvSpPr>
        <p:spPr>
          <a:xfrm>
            <a:off x="8634432" y="3782039"/>
            <a:ext cx="2057400" cy="343061"/>
          </a:xfrm>
        </p:spPr>
        <p:txBody>
          <a:bodyPr rtlCol="0"/>
          <a:lstStyle/>
          <a:p>
            <a:pPr rtl="0"/>
            <a:r>
              <a:rPr lang="en-GB"/>
              <a:t>VP Marketing</a:t>
            </a:r>
          </a:p>
        </p:txBody>
      </p:sp>
      <p:pic>
        <p:nvPicPr>
          <p:cNvPr id="58" name="Picture Placeholder 57" descr="Team member headshot">
            <a:extLst>
              <a:ext uri="{FF2B5EF4-FFF2-40B4-BE49-F238E27FC236}">
                <a16:creationId xmlns:a16="http://schemas.microsoft.com/office/drawing/2014/main" id="{67F12A1B-1645-4C97-AE80-CC96C4998E2E}"/>
              </a:ext>
            </a:extLst>
          </p:cNvPr>
          <p:cNvPicPr>
            <a:picLocks noGrp="1" noChangeAspect="1"/>
          </p:cNvPicPr>
          <p:nvPr>
            <p:ph type="pic" sz="quarter" idx="26"/>
          </p:nvPr>
        </p:nvPicPr>
        <p:blipFill rotWithShape="1">
          <a:blip r:embed="rId7">
            <a:extLst>
              <a:ext uri="{28A0092B-C50C-407E-A947-70E740481C1C}">
                <a14:useLocalDpi xmlns:a14="http://schemas.microsoft.com/office/drawing/2010/main" val="0"/>
              </a:ext>
            </a:extLst>
          </a:blip>
          <a:srcRect/>
          <a:stretch/>
        </p:blipFill>
        <p:spPr>
          <a:xfrm>
            <a:off x="1877176" y="4287711"/>
            <a:ext cx="1066800" cy="1066800"/>
          </a:xfrm>
        </p:spPr>
      </p:pic>
      <p:pic>
        <p:nvPicPr>
          <p:cNvPr id="66" name="Picture Placeholder 65" descr="Team member headshot">
            <a:extLst>
              <a:ext uri="{FF2B5EF4-FFF2-40B4-BE49-F238E27FC236}">
                <a16:creationId xmlns:a16="http://schemas.microsoft.com/office/drawing/2014/main" id="{448282B4-E477-4ECE-BC09-7EA9451D9AEE}"/>
              </a:ext>
            </a:extLst>
          </p:cNvPr>
          <p:cNvPicPr>
            <a:picLocks noGrp="1" noChangeAspect="1"/>
          </p:cNvPicPr>
          <p:nvPr>
            <p:ph type="pic" sz="quarter" idx="27"/>
          </p:nvPr>
        </p:nvPicPr>
        <p:blipFill rotWithShape="1">
          <a:blip r:embed="rId8">
            <a:extLst>
              <a:ext uri="{28A0092B-C50C-407E-A947-70E740481C1C}">
                <a14:useLocalDpi xmlns:a14="http://schemas.microsoft.com/office/drawing/2010/main" val="0"/>
              </a:ext>
            </a:extLst>
          </a:blip>
          <a:srcRect/>
          <a:stretch/>
        </p:blipFill>
        <p:spPr>
          <a:xfrm>
            <a:off x="4226270" y="4287711"/>
            <a:ext cx="1066800" cy="1066800"/>
          </a:xfrm>
        </p:spPr>
      </p:pic>
      <p:pic>
        <p:nvPicPr>
          <p:cNvPr id="78" name="Picture Placeholder 77" descr="Team member headshot">
            <a:extLst>
              <a:ext uri="{FF2B5EF4-FFF2-40B4-BE49-F238E27FC236}">
                <a16:creationId xmlns:a16="http://schemas.microsoft.com/office/drawing/2014/main" id="{15824874-C00E-4835-97F0-43C416DDCACC}"/>
              </a:ext>
            </a:extLst>
          </p:cNvPr>
          <p:cNvPicPr>
            <a:picLocks noGrp="1" noChangeAspect="1"/>
          </p:cNvPicPr>
          <p:nvPr>
            <p:ph type="pic" sz="quarter" idx="28"/>
          </p:nvPr>
        </p:nvPicPr>
        <p:blipFill rotWithShape="1">
          <a:blip r:embed="rId9">
            <a:extLst>
              <a:ext uri="{28A0092B-C50C-407E-A947-70E740481C1C}">
                <a14:useLocalDpi xmlns:a14="http://schemas.microsoft.com/office/drawing/2010/main" val="0"/>
              </a:ext>
            </a:extLst>
          </a:blip>
          <a:srcRect/>
          <a:stretch/>
        </p:blipFill>
        <p:spPr>
          <a:xfrm>
            <a:off x="6716934" y="4287711"/>
            <a:ext cx="1066800" cy="1066800"/>
          </a:xfrm>
        </p:spPr>
      </p:pic>
      <p:pic>
        <p:nvPicPr>
          <p:cNvPr id="83" name="Picture Placeholder 82" descr="Team member headshot">
            <a:extLst>
              <a:ext uri="{FF2B5EF4-FFF2-40B4-BE49-F238E27FC236}">
                <a16:creationId xmlns:a16="http://schemas.microsoft.com/office/drawing/2014/main" id="{96405252-7726-442E-9D15-755840A5AF27}"/>
              </a:ext>
            </a:extLst>
          </p:cNvPr>
          <p:cNvPicPr>
            <a:picLocks noGrp="1" noChangeAspect="1"/>
          </p:cNvPicPr>
          <p:nvPr>
            <p:ph type="pic" sz="quarter" idx="29"/>
          </p:nvPr>
        </p:nvPicPr>
        <p:blipFill rotWithShape="1">
          <a:blip r:embed="rId10">
            <a:extLst>
              <a:ext uri="{28A0092B-C50C-407E-A947-70E740481C1C}">
                <a14:useLocalDpi xmlns:a14="http://schemas.microsoft.com/office/drawing/2010/main" val="0"/>
              </a:ext>
            </a:extLst>
          </a:blip>
          <a:srcRect/>
          <a:stretch/>
        </p:blipFill>
        <p:spPr>
          <a:xfrm>
            <a:off x="9136814" y="4287711"/>
            <a:ext cx="1066800" cy="1066800"/>
          </a:xfrm>
        </p:spPr>
      </p:pic>
      <p:sp>
        <p:nvSpPr>
          <p:cNvPr id="64" name="Text Placeholder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rtlCol="0"/>
          <a:lstStyle/>
          <a:p>
            <a:pPr rtl="0"/>
            <a:r>
              <a:rPr lang="en-GB"/>
              <a:t>GRAHAM BARNES</a:t>
            </a:r>
          </a:p>
          <a:p>
            <a:pPr rtl="0"/>
            <a:endParaRPr lang="en-GB"/>
          </a:p>
        </p:txBody>
      </p:sp>
      <p:sp>
        <p:nvSpPr>
          <p:cNvPr id="72" name="Text Placeholder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rtlCol="0"/>
          <a:lstStyle/>
          <a:p>
            <a:pPr rtl="0"/>
            <a:r>
              <a:rPr lang="en-GB"/>
              <a:t>VP Product</a:t>
            </a:r>
          </a:p>
        </p:txBody>
      </p:sp>
      <p:sp>
        <p:nvSpPr>
          <p:cNvPr id="69" name="Text Placeholder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rtlCol="0"/>
          <a:lstStyle/>
          <a:p>
            <a:pPr rtl="0"/>
            <a:r>
              <a:rPr lang="en-GB"/>
              <a:t>ROWAN MURPHY</a:t>
            </a:r>
          </a:p>
          <a:p>
            <a:pPr rtl="0"/>
            <a:endParaRPr lang="en-GB"/>
          </a:p>
        </p:txBody>
      </p:sp>
      <p:sp>
        <p:nvSpPr>
          <p:cNvPr id="73" name="Text Placeholder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rtlCol="0"/>
          <a:lstStyle/>
          <a:p>
            <a:pPr rtl="0"/>
            <a:r>
              <a:rPr lang="en-GB"/>
              <a:t>SEO Strategist</a:t>
            </a:r>
          </a:p>
        </p:txBody>
      </p:sp>
      <p:sp>
        <p:nvSpPr>
          <p:cNvPr id="70" name="Text Placeholder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rtlCol="0"/>
          <a:lstStyle/>
          <a:p>
            <a:pPr rtl="0"/>
            <a:r>
              <a:rPr lang="en-GB"/>
              <a:t>ELIZABETH MOORE</a:t>
            </a:r>
          </a:p>
        </p:txBody>
      </p:sp>
      <p:sp>
        <p:nvSpPr>
          <p:cNvPr id="74" name="Text Placeholder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rtlCol="0"/>
          <a:lstStyle/>
          <a:p>
            <a:pPr rtl="0"/>
            <a:r>
              <a:rPr lang="en-GB"/>
              <a:t>Product Designer</a:t>
            </a:r>
          </a:p>
        </p:txBody>
      </p:sp>
      <p:sp>
        <p:nvSpPr>
          <p:cNvPr id="71" name="Text Placeholder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rtlCol="0"/>
          <a:lstStyle/>
          <a:p>
            <a:pPr rtl="0"/>
            <a:r>
              <a:rPr lang="en-GB"/>
              <a:t>ROBIN KLINE</a:t>
            </a:r>
          </a:p>
        </p:txBody>
      </p:sp>
      <p:sp>
        <p:nvSpPr>
          <p:cNvPr id="75" name="Text Placeholder 74">
            <a:extLst>
              <a:ext uri="{FF2B5EF4-FFF2-40B4-BE49-F238E27FC236}">
                <a16:creationId xmlns:a16="http://schemas.microsoft.com/office/drawing/2014/main" id="{72076C4D-9688-4C1A-AB51-8F1051A803A9}"/>
              </a:ext>
            </a:extLst>
          </p:cNvPr>
          <p:cNvSpPr>
            <a:spLocks noGrp="1"/>
          </p:cNvSpPr>
          <p:nvPr>
            <p:ph type="body" idx="36"/>
          </p:nvPr>
        </p:nvSpPr>
        <p:spPr>
          <a:xfrm>
            <a:off x="8634432" y="5640875"/>
            <a:ext cx="2057400" cy="343061"/>
          </a:xfrm>
        </p:spPr>
        <p:txBody>
          <a:bodyPr rtlCol="0"/>
          <a:lstStyle/>
          <a:p>
            <a:pPr rtl="0"/>
            <a:r>
              <a:rPr lang="en-GB"/>
              <a:t>Content Developer</a:t>
            </a:r>
          </a:p>
        </p:txBody>
      </p:sp>
      <p:sp>
        <p:nvSpPr>
          <p:cNvPr id="3" name="Date Placeholder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4" name="Footer Placeholder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5" name="Slide Number Placeholder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18</a:t>
            </a:fld>
            <a:endParaRPr lang="en-GB"/>
          </a:p>
        </p:txBody>
      </p:sp>
    </p:spTree>
    <p:extLst>
      <p:ext uri="{BB962C8B-B14F-4D97-AF65-F5344CB8AC3E}">
        <p14:creationId xmlns:p14="http://schemas.microsoft.com/office/powerpoint/2010/main" val="3396266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rtlCol="0"/>
          <a:lstStyle/>
          <a:p>
            <a:pPr rtl="0"/>
            <a:r>
              <a:rPr lang="en-GB" dirty="0"/>
              <a:t>FUNDING</a:t>
            </a:r>
          </a:p>
        </p:txBody>
      </p:sp>
      <p:graphicFrame>
        <p:nvGraphicFramePr>
          <p:cNvPr id="58" name="Content Placeholder 57" title="Funding Chart">
            <a:extLst>
              <a:ext uri="{FF2B5EF4-FFF2-40B4-BE49-F238E27FC236}">
                <a16:creationId xmlns:a16="http://schemas.microsoft.com/office/drawing/2014/main" id="{0231F8BC-AEBA-4843-9F73-E06265724EAB}"/>
              </a:ext>
            </a:extLst>
          </p:cNvPr>
          <p:cNvGraphicFramePr>
            <a:graphicFrameLocks noGrp="1"/>
          </p:cNvGraphicFramePr>
          <p:nvPr>
            <p:ph sz="quarter" idx="21"/>
            <p:extLst>
              <p:ext uri="{D42A27DB-BD31-4B8C-83A1-F6EECF244321}">
                <p14:modId xmlns:p14="http://schemas.microsoft.com/office/powerpoint/2010/main" val="1716243500"/>
              </p:ext>
            </p:extLst>
          </p:nvPr>
        </p:nvGraphicFramePr>
        <p:xfrm>
          <a:off x="1074738" y="2370138"/>
          <a:ext cx="1857375" cy="1665287"/>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Placeholder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rtlCol="0"/>
          <a:lstStyle/>
          <a:p>
            <a:pPr rtl="0"/>
            <a:r>
              <a:rPr lang="en-GB" dirty="0"/>
              <a:t>£14,000</a:t>
            </a:r>
          </a:p>
        </p:txBody>
      </p:sp>
      <p:sp>
        <p:nvSpPr>
          <p:cNvPr id="14" name="Text Placeholder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rtlCol="0"/>
          <a:lstStyle/>
          <a:p>
            <a:pPr rtl="0"/>
            <a:r>
              <a:rPr lang="en-GB" dirty="0"/>
              <a:t>ANGEL INVESTMENTS</a:t>
            </a:r>
          </a:p>
        </p:txBody>
      </p:sp>
      <p:sp>
        <p:nvSpPr>
          <p:cNvPr id="4" name="Content Placeholder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rtlCol="0"/>
          <a:lstStyle/>
          <a:p>
            <a:pPr rtl="0"/>
            <a:r>
              <a:rPr lang="en-GB" dirty="0"/>
              <a:t>Amount obtained through other investors</a:t>
            </a:r>
          </a:p>
        </p:txBody>
      </p:sp>
      <p:graphicFrame>
        <p:nvGraphicFramePr>
          <p:cNvPr id="59" name="Content Placeholder 58" title="Funding Chart">
            <a:extLst>
              <a:ext uri="{FF2B5EF4-FFF2-40B4-BE49-F238E27FC236}">
                <a16:creationId xmlns:a16="http://schemas.microsoft.com/office/drawing/2014/main" id="{AD7D64AB-F97A-41F1-B2E8-66B1E245043A}"/>
              </a:ext>
            </a:extLst>
          </p:cNvPr>
          <p:cNvGraphicFramePr>
            <a:graphicFrameLocks noGrp="1"/>
          </p:cNvGraphicFramePr>
          <p:nvPr>
            <p:ph sz="quarter" idx="22"/>
            <p:extLst>
              <p:ext uri="{D42A27DB-BD31-4B8C-83A1-F6EECF244321}">
                <p14:modId xmlns:p14="http://schemas.microsoft.com/office/powerpoint/2010/main" val="443126768"/>
              </p:ext>
            </p:extLst>
          </p:nvPr>
        </p:nvGraphicFramePr>
        <p:xfrm>
          <a:off x="3805238" y="2370138"/>
          <a:ext cx="1857375" cy="1665287"/>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Placeholder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rtlCol="0"/>
          <a:lstStyle/>
          <a:p>
            <a:pPr rtl="0"/>
            <a:r>
              <a:rPr lang="en-GB" dirty="0"/>
              <a:t>£12,000</a:t>
            </a:r>
          </a:p>
        </p:txBody>
      </p:sp>
      <p:sp>
        <p:nvSpPr>
          <p:cNvPr id="15" name="Text Placeholder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rtlCol="0"/>
          <a:lstStyle/>
          <a:p>
            <a:pPr rtl="0"/>
            <a:r>
              <a:rPr lang="en-GB" dirty="0"/>
              <a:t>PROPERTY</a:t>
            </a:r>
          </a:p>
        </p:txBody>
      </p:sp>
      <p:sp>
        <p:nvSpPr>
          <p:cNvPr id="6" name="Content Placeholder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rtlCol="0"/>
          <a:lstStyle/>
          <a:p>
            <a:pPr rtl="0"/>
            <a:r>
              <a:rPr lang="en-GB" dirty="0"/>
              <a:t>Revenue obtained from property rentals</a:t>
            </a:r>
          </a:p>
        </p:txBody>
      </p:sp>
      <p:graphicFrame>
        <p:nvGraphicFramePr>
          <p:cNvPr id="60" name="Content Placeholder 59" title="Funding Chart">
            <a:extLst>
              <a:ext uri="{FF2B5EF4-FFF2-40B4-BE49-F238E27FC236}">
                <a16:creationId xmlns:a16="http://schemas.microsoft.com/office/drawing/2014/main" id="{81BCDC44-04F0-4390-B965-A86C88176708}"/>
              </a:ext>
            </a:extLst>
          </p:cNvPr>
          <p:cNvGraphicFramePr>
            <a:graphicFrameLocks noGrp="1"/>
          </p:cNvGraphicFramePr>
          <p:nvPr>
            <p:ph sz="quarter" idx="23"/>
            <p:extLst>
              <p:ext uri="{D42A27DB-BD31-4B8C-83A1-F6EECF244321}">
                <p14:modId xmlns:p14="http://schemas.microsoft.com/office/powerpoint/2010/main" val="1134508069"/>
              </p:ext>
            </p:extLst>
          </p:nvPr>
        </p:nvGraphicFramePr>
        <p:xfrm>
          <a:off x="6529388" y="2370138"/>
          <a:ext cx="1857375" cy="1665287"/>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 Placeholder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rtlCol="0"/>
          <a:lstStyle/>
          <a:p>
            <a:pPr rtl="0"/>
            <a:r>
              <a:rPr lang="en-GB" dirty="0"/>
              <a:t>£82,000</a:t>
            </a:r>
          </a:p>
        </p:txBody>
      </p:sp>
      <p:sp>
        <p:nvSpPr>
          <p:cNvPr id="16" name="Text Placeholder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rtlCol="0"/>
          <a:lstStyle/>
          <a:p>
            <a:pPr rtl="0"/>
            <a:r>
              <a:rPr lang="en-GB" dirty="0"/>
              <a:t>SHARES</a:t>
            </a:r>
          </a:p>
        </p:txBody>
      </p:sp>
      <p:sp>
        <p:nvSpPr>
          <p:cNvPr id="11" name="Content Placeholder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rtlCol="0"/>
          <a:lstStyle/>
          <a:p>
            <a:pPr rtl="0"/>
            <a:r>
              <a:rPr lang="en-GB" dirty="0"/>
              <a:t>Number of shares converted into USD</a:t>
            </a:r>
          </a:p>
          <a:p>
            <a:pPr rtl="0"/>
            <a:endParaRPr lang="en-GB" noProof="1"/>
          </a:p>
        </p:txBody>
      </p:sp>
      <p:graphicFrame>
        <p:nvGraphicFramePr>
          <p:cNvPr id="61" name="Content Placeholder 60" title="Funding Chart">
            <a:extLst>
              <a:ext uri="{FF2B5EF4-FFF2-40B4-BE49-F238E27FC236}">
                <a16:creationId xmlns:a16="http://schemas.microsoft.com/office/drawing/2014/main" id="{D78C801B-5A42-4B88-AF2C-A3C45CD69E2E}"/>
              </a:ext>
            </a:extLst>
          </p:cNvPr>
          <p:cNvGraphicFramePr>
            <a:graphicFrameLocks noGrp="1"/>
          </p:cNvGraphicFramePr>
          <p:nvPr>
            <p:ph sz="quarter" idx="24"/>
            <p:extLst>
              <p:ext uri="{D42A27DB-BD31-4B8C-83A1-F6EECF244321}">
                <p14:modId xmlns:p14="http://schemas.microsoft.com/office/powerpoint/2010/main" val="406409718"/>
              </p:ext>
            </p:extLst>
          </p:nvPr>
        </p:nvGraphicFramePr>
        <p:xfrm>
          <a:off x="9259888" y="2370138"/>
          <a:ext cx="1857375" cy="1665287"/>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 Placeholder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rtlCol="0"/>
          <a:lstStyle/>
          <a:p>
            <a:pPr rtl="0"/>
            <a:r>
              <a:rPr lang="en-GB" dirty="0"/>
              <a:t>£32,000</a:t>
            </a:r>
          </a:p>
        </p:txBody>
      </p:sp>
      <p:sp>
        <p:nvSpPr>
          <p:cNvPr id="17" name="Text Placeholder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rtlCol="0"/>
          <a:lstStyle/>
          <a:p>
            <a:pPr rtl="0"/>
            <a:r>
              <a:rPr lang="en-GB" dirty="0"/>
              <a:t>CASH</a:t>
            </a:r>
          </a:p>
        </p:txBody>
      </p:sp>
      <p:sp>
        <p:nvSpPr>
          <p:cNvPr id="13" name="Content Placeholder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rtlCol="0"/>
          <a:lstStyle/>
          <a:p>
            <a:pPr rtl="0"/>
            <a:r>
              <a:rPr lang="en-GB" noProof="1"/>
              <a:t>Liquid cash we have on hand</a:t>
            </a:r>
          </a:p>
          <a:p>
            <a:pPr rtl="0"/>
            <a:endParaRPr lang="en-GB" dirty="0"/>
          </a:p>
        </p:txBody>
      </p:sp>
      <p:sp>
        <p:nvSpPr>
          <p:cNvPr id="7" name="Date Placeholder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rtlCol="0"/>
          <a:lstStyle/>
          <a:p>
            <a:pPr rtl="0"/>
            <a:r>
              <a:rPr lang="en-GB" dirty="0"/>
              <a:t>20XX</a:t>
            </a:r>
          </a:p>
        </p:txBody>
      </p:sp>
      <p:sp>
        <p:nvSpPr>
          <p:cNvPr id="8" name="Footer Placeholder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rtlCol="0"/>
          <a:lstStyle/>
          <a:p>
            <a:pPr rtl="0"/>
            <a:r>
              <a:rPr lang="en-GB" dirty="0"/>
              <a:t>Pitch Deck</a:t>
            </a:r>
          </a:p>
        </p:txBody>
      </p:sp>
      <p:sp>
        <p:nvSpPr>
          <p:cNvPr id="9" name="Slide Number Placeholder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19</a:t>
            </a:fld>
            <a:endParaRPr lang="en-GB" dirty="0"/>
          </a:p>
        </p:txBody>
      </p:sp>
    </p:spTree>
    <p:extLst>
      <p:ext uri="{BB962C8B-B14F-4D97-AF65-F5344CB8AC3E}">
        <p14:creationId xmlns:p14="http://schemas.microsoft.com/office/powerpoint/2010/main" val="1177824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rtlCol="0"/>
          <a:lstStyle/>
          <a:p>
            <a:pPr rtl="0"/>
            <a:r>
              <a:rPr lang="en-GB"/>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pPr rtl="0"/>
            <a:r>
              <a:rPr lang="en-GB"/>
              <a:t>At Contoso, we believe in giving 110%. By using our next-generation data architecture, we help organisations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a:t>20</a:t>
            </a:fld>
            <a:endParaRPr lang="en-GB"/>
          </a:p>
        </p:txBody>
      </p:sp>
    </p:spTree>
    <p:extLst>
      <p:ext uri="{BB962C8B-B14F-4D97-AF65-F5344CB8AC3E}">
        <p14:creationId xmlns:p14="http://schemas.microsoft.com/office/powerpoint/2010/main" val="920173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n-GB"/>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n-GB"/>
              <a:t>Mirjam Nilsson​</a:t>
            </a:r>
          </a:p>
          <a:p>
            <a:pPr rtl="0"/>
            <a:r>
              <a:rPr lang="en-GB"/>
              <a:t>206-555-0146</a:t>
            </a:r>
          </a:p>
          <a:p>
            <a:pPr rtl="0"/>
            <a:r>
              <a:rPr lang="en-GB"/>
              <a:t>mirjam@contoso.com</a:t>
            </a:r>
          </a:p>
          <a:p>
            <a:pPr rtl="0"/>
            <a:r>
              <a:rPr lang="en-GB"/>
              <a:t>www.contoso.com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n-GB"/>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a:t>21</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7_TF56180624_Win32" id="{9C9DE05E-573F-4B74-9E07-5048A314E5F0}" vid="{CC422194-82DE-4560-A159-6C2CDC2379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2.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light sales pitch</Template>
  <TotalTime>3</TotalTime>
  <Words>915</Words>
  <Application>Microsoft Office PowerPoint</Application>
  <PresentationFormat>Widescreen</PresentationFormat>
  <Paragraphs>329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Tenorite</vt:lpstr>
      <vt:lpstr>Monoline</vt:lpstr>
      <vt:lpstr>Library Management System</vt:lpstr>
      <vt:lpstr>ABOUT US</vt:lpstr>
      <vt:lpstr>PROBLEM</vt:lpstr>
      <vt:lpstr>SOLUTION</vt:lpstr>
      <vt:lpstr>PRODUCT OVERVIEW</vt:lpstr>
      <vt:lpstr>PRODUCT BENEFITS</vt:lpstr>
      <vt:lpstr>COMPANY OVERVIEW</vt:lpstr>
      <vt:lpstr>BUSINESS MODEL</vt:lpstr>
      <vt:lpstr>MARKET OVERVIEW</vt:lpstr>
      <vt:lpstr>Market comparison</vt:lpstr>
      <vt:lpstr>OUR COMPETITION</vt:lpstr>
      <vt:lpstr>Our competition  </vt:lpstr>
      <vt:lpstr>Growth strategy</vt:lpstr>
      <vt:lpstr>TRACTION</vt:lpstr>
      <vt:lpstr>TWO-YEAR ACTION PLAN</vt:lpstr>
      <vt:lpstr>FINANCIALS</vt:lpstr>
      <vt:lpstr>MEET THE TEAM</vt:lpstr>
      <vt:lpstr>MEET THE TEAM  </vt:lpstr>
      <vt:lpstr>FUNDING</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A00325358: Pronoti Saha</dc:creator>
  <cp:lastModifiedBy>A00325358: Pronoti Saha</cp:lastModifiedBy>
  <cp:revision>1</cp:revision>
  <dcterms:created xsi:type="dcterms:W3CDTF">2025-11-24T21:25:09Z</dcterms:created>
  <dcterms:modified xsi:type="dcterms:W3CDTF">2025-11-24T21:28:34Z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